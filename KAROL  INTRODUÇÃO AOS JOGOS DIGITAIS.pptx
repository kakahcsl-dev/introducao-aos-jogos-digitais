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Modular" charset="1" panose="00000800000000000000"/>
      <p:regular r:id="rId17"/>
    </p:embeddedFont>
    <p:embeddedFont>
      <p:font typeface="Neo Sans" charset="1" panose="020B0504030504040204"/>
      <p:regular r:id="rId18"/>
    </p:embeddedFont>
    <p:embeddedFont>
      <p:font typeface="Open Sans Bold" charset="1" panose="020B0806030504020204"/>
      <p:regular r:id="rId19"/>
    </p:embeddedFont>
    <p:embeddedFont>
      <p:font typeface="Garet Bold" charset="1" panose="00000000000000000000"/>
      <p:regular r:id="rId20"/>
    </p:embeddedFont>
    <p:embeddedFont>
      <p:font typeface="Poppins Bold" charset="1" panose="00000800000000000000"/>
      <p:regular r:id="rId21"/>
    </p:embeddedFont>
    <p:embeddedFont>
      <p:font typeface="Arcade Gamer" charset="1" panose="00000000000000000000"/>
      <p:regular r:id="rId22"/>
    </p:embeddedFont>
    <p:embeddedFont>
      <p:font typeface="Now" charset="1" panose="00000500000000000000"/>
      <p:regular r:id="rId23"/>
    </p:embeddedFont>
    <p:embeddedFont>
      <p:font typeface="Open Sans" charset="1" panose="020B0606030504020204"/>
      <p:regular r:id="rId24"/>
    </p:embeddedFont>
    <p:embeddedFont>
      <p:font typeface="Open Sans Italic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24.pn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20" Target="../media/image26.pn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png" Type="http://schemas.openxmlformats.org/officeDocument/2006/relationships/image"/><Relationship Id="rId24" Target="../media/image30.png" Type="http://schemas.openxmlformats.org/officeDocument/2006/relationships/image"/><Relationship Id="rId25" Target="../media/image31.png" Type="http://schemas.openxmlformats.org/officeDocument/2006/relationships/image"/><Relationship Id="rId26" Target="../media/image32.png" Type="http://schemas.openxmlformats.org/officeDocument/2006/relationships/image"/><Relationship Id="rId27" Target="../media/image33.png" Type="http://schemas.openxmlformats.org/officeDocument/2006/relationships/image"/><Relationship Id="rId28" Target="../media/image34.png" Type="http://schemas.openxmlformats.org/officeDocument/2006/relationships/image"/><Relationship Id="rId29" Target="../media/image35.png" Type="http://schemas.openxmlformats.org/officeDocument/2006/relationships/image"/><Relationship Id="rId3" Target="../media/image9.png" Type="http://schemas.openxmlformats.org/officeDocument/2006/relationships/image"/><Relationship Id="rId30" Target="../media/image36.png" Type="http://schemas.openxmlformats.org/officeDocument/2006/relationships/image"/><Relationship Id="rId31" Target="../media/image37.png" Type="http://schemas.openxmlformats.org/officeDocument/2006/relationships/image"/><Relationship Id="rId32" Target="../media/image38.png" Type="http://schemas.openxmlformats.org/officeDocument/2006/relationships/image"/><Relationship Id="rId33" Target="../media/image39.png" Type="http://schemas.openxmlformats.org/officeDocument/2006/relationships/image"/><Relationship Id="rId34" Target="../media/image40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0" r="-1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7524" y="-5129385"/>
            <a:ext cx="23983313" cy="23983313"/>
          </a:xfrm>
          <a:custGeom>
            <a:avLst/>
            <a:gdLst/>
            <a:ahLst/>
            <a:cxnLst/>
            <a:rect r="r" b="b" t="t" l="l"/>
            <a:pathLst>
              <a:path h="23983313" w="23983313">
                <a:moveTo>
                  <a:pt x="0" y="0"/>
                </a:moveTo>
                <a:lnTo>
                  <a:pt x="23983313" y="0"/>
                </a:lnTo>
                <a:lnTo>
                  <a:pt x="23983313" y="23983313"/>
                </a:lnTo>
                <a:lnTo>
                  <a:pt x="0" y="2398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094960" y="-11410053"/>
            <a:ext cx="23983313" cy="23983313"/>
          </a:xfrm>
          <a:custGeom>
            <a:avLst/>
            <a:gdLst/>
            <a:ahLst/>
            <a:cxnLst/>
            <a:rect r="r" b="b" t="t" l="l"/>
            <a:pathLst>
              <a:path h="23983313" w="23983313">
                <a:moveTo>
                  <a:pt x="0" y="0"/>
                </a:moveTo>
                <a:lnTo>
                  <a:pt x="23983313" y="0"/>
                </a:lnTo>
                <a:lnTo>
                  <a:pt x="23983313" y="23983314"/>
                </a:lnTo>
                <a:lnTo>
                  <a:pt x="0" y="2398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7249775" y="-345189"/>
            <a:ext cx="0" cy="1096433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2700000">
            <a:off x="3739719" y="409326"/>
            <a:ext cx="23179965" cy="15453310"/>
          </a:xfrm>
          <a:custGeom>
            <a:avLst/>
            <a:gdLst/>
            <a:ahLst/>
            <a:cxnLst/>
            <a:rect r="r" b="b" t="t" l="l"/>
            <a:pathLst>
              <a:path h="15453310" w="23179965">
                <a:moveTo>
                  <a:pt x="0" y="0"/>
                </a:moveTo>
                <a:lnTo>
                  <a:pt x="23179965" y="0"/>
                </a:lnTo>
                <a:lnTo>
                  <a:pt x="23179965" y="15453310"/>
                </a:lnTo>
                <a:lnTo>
                  <a:pt x="0" y="15453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28737" y="726712"/>
            <a:ext cx="642076" cy="642076"/>
          </a:xfrm>
          <a:custGeom>
            <a:avLst/>
            <a:gdLst/>
            <a:ahLst/>
            <a:cxnLst/>
            <a:rect r="r" b="b" t="t" l="l"/>
            <a:pathLst>
              <a:path h="642076" w="642076">
                <a:moveTo>
                  <a:pt x="0" y="0"/>
                </a:moveTo>
                <a:lnTo>
                  <a:pt x="642076" y="0"/>
                </a:lnTo>
                <a:lnTo>
                  <a:pt x="642076" y="642076"/>
                </a:lnTo>
                <a:lnTo>
                  <a:pt x="0" y="6420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8481" y="2567948"/>
            <a:ext cx="11351533" cy="429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4"/>
              </a:lnSpc>
            </a:pPr>
            <a:r>
              <a:rPr lang="en-US" sz="961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INTRODUÇÃO AOS JOGOS DIGITAIS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63050"/>
            <a:ext cx="6072966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spc="160">
                <a:solidFill>
                  <a:srgbClr val="FFFFFF"/>
                </a:solidFill>
                <a:latin typeface="Neo Sans"/>
                <a:ea typeface="Neo Sans"/>
                <a:cs typeface="Neo Sans"/>
                <a:sym typeface="Neo Sans"/>
              </a:rPr>
              <a:t>KAROLLAINY CRISTINA DA SILVA LUCAS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1047750"/>
            <a:ext cx="649224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47750" y="1028700"/>
            <a:ext cx="0" cy="649224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309" y="372618"/>
            <a:ext cx="18019087" cy="9486907"/>
            <a:chOff x="0" y="0"/>
            <a:chExt cx="24025449" cy="1264920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96273" y="1467515"/>
              <a:ext cx="1900153" cy="2610910"/>
              <a:chOff x="0" y="0"/>
              <a:chExt cx="734798" cy="100965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34798" cy="1009651"/>
              </a:xfrm>
              <a:custGeom>
                <a:avLst/>
                <a:gdLst/>
                <a:ahLst/>
                <a:cxnLst/>
                <a:rect r="r" b="b" t="t" l="l"/>
                <a:pathLst>
                  <a:path h="1009651" w="734798">
                    <a:moveTo>
                      <a:pt x="277057" y="0"/>
                    </a:moveTo>
                    <a:lnTo>
                      <a:pt x="457741" y="0"/>
                    </a:lnTo>
                    <a:cubicBezTo>
                      <a:pt x="531221" y="0"/>
                      <a:pt x="601692" y="29190"/>
                      <a:pt x="653650" y="81148"/>
                    </a:cubicBezTo>
                    <a:cubicBezTo>
                      <a:pt x="705608" y="133106"/>
                      <a:pt x="734798" y="203577"/>
                      <a:pt x="734798" y="277057"/>
                    </a:cubicBezTo>
                    <a:lnTo>
                      <a:pt x="734798" y="732594"/>
                    </a:lnTo>
                    <a:cubicBezTo>
                      <a:pt x="734798" y="885609"/>
                      <a:pt x="610756" y="1009651"/>
                      <a:pt x="457741" y="1009651"/>
                    </a:cubicBezTo>
                    <a:lnTo>
                      <a:pt x="277057" y="1009651"/>
                    </a:lnTo>
                    <a:cubicBezTo>
                      <a:pt x="203577" y="1009651"/>
                      <a:pt x="133106" y="980462"/>
                      <a:pt x="81148" y="928503"/>
                    </a:cubicBezTo>
                    <a:cubicBezTo>
                      <a:pt x="29190" y="876545"/>
                      <a:pt x="0" y="806075"/>
                      <a:pt x="0" y="732594"/>
                    </a:cubicBezTo>
                    <a:lnTo>
                      <a:pt x="0" y="277057"/>
                    </a:lnTo>
                    <a:cubicBezTo>
                      <a:pt x="0" y="203577"/>
                      <a:pt x="29190" y="133106"/>
                      <a:pt x="81148" y="81148"/>
                    </a:cubicBezTo>
                    <a:cubicBezTo>
                      <a:pt x="133106" y="29190"/>
                      <a:pt x="203577" y="0"/>
                      <a:pt x="277057" y="0"/>
                    </a:cubicBezTo>
                    <a:close/>
                  </a:path>
                </a:pathLst>
              </a:custGeom>
              <a:solidFill>
                <a:srgbClr val="FF1FA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34798" cy="1047751"/>
              </a:xfrm>
              <a:prstGeom prst="rect">
                <a:avLst/>
              </a:prstGeom>
            </p:spPr>
            <p:txBody>
              <a:bodyPr anchor="ctr" rtlCol="false" tIns="25949" lIns="25949" bIns="25949" rIns="25949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491036" y="2082229"/>
              <a:ext cx="1310628" cy="980349"/>
            </a:xfrm>
            <a:custGeom>
              <a:avLst/>
              <a:gdLst/>
              <a:ahLst/>
              <a:cxnLst/>
              <a:rect r="r" b="b" t="t" l="l"/>
              <a:pathLst>
                <a:path h="980349" w="1310628">
                  <a:moveTo>
                    <a:pt x="0" y="0"/>
                  </a:moveTo>
                  <a:lnTo>
                    <a:pt x="1310628" y="0"/>
                  </a:lnTo>
                  <a:lnTo>
                    <a:pt x="1310628" y="980350"/>
                  </a:lnTo>
                  <a:lnTo>
                    <a:pt x="0" y="98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80419" y="3191606"/>
              <a:ext cx="1625619" cy="710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2"/>
                </a:lnSpc>
              </a:pPr>
              <a:r>
                <a:rPr lang="en-US" sz="78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Primeiro jogo criado para entretenimento. Foi desenvolvido em um osciloscópio.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25935" y="1642046"/>
              <a:ext cx="1625619" cy="335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92"/>
                </a:lnSpc>
              </a:pPr>
              <a:r>
                <a:rPr lang="en-US" b="true" sz="78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Criação de Tennis for Two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194745" y="1476132"/>
              <a:ext cx="1900153" cy="2602293"/>
              <a:chOff x="0" y="0"/>
              <a:chExt cx="734798" cy="100631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34798" cy="1006319"/>
              </a:xfrm>
              <a:custGeom>
                <a:avLst/>
                <a:gdLst/>
                <a:ahLst/>
                <a:cxnLst/>
                <a:rect r="r" b="b" t="t" l="l"/>
                <a:pathLst>
                  <a:path h="1006319" w="734798">
                    <a:moveTo>
                      <a:pt x="277057" y="0"/>
                    </a:moveTo>
                    <a:lnTo>
                      <a:pt x="457741" y="0"/>
                    </a:lnTo>
                    <a:cubicBezTo>
                      <a:pt x="531221" y="0"/>
                      <a:pt x="601692" y="29190"/>
                      <a:pt x="653650" y="81148"/>
                    </a:cubicBezTo>
                    <a:cubicBezTo>
                      <a:pt x="705608" y="133106"/>
                      <a:pt x="734798" y="203577"/>
                      <a:pt x="734798" y="277057"/>
                    </a:cubicBezTo>
                    <a:lnTo>
                      <a:pt x="734798" y="729262"/>
                    </a:lnTo>
                    <a:cubicBezTo>
                      <a:pt x="734798" y="802742"/>
                      <a:pt x="705608" y="873213"/>
                      <a:pt x="653650" y="925171"/>
                    </a:cubicBezTo>
                    <a:cubicBezTo>
                      <a:pt x="601692" y="977129"/>
                      <a:pt x="531221" y="1006319"/>
                      <a:pt x="457741" y="1006319"/>
                    </a:cubicBezTo>
                    <a:lnTo>
                      <a:pt x="277057" y="1006319"/>
                    </a:lnTo>
                    <a:cubicBezTo>
                      <a:pt x="124043" y="1006319"/>
                      <a:pt x="0" y="882276"/>
                      <a:pt x="0" y="729262"/>
                    </a:cubicBezTo>
                    <a:lnTo>
                      <a:pt x="0" y="277057"/>
                    </a:lnTo>
                    <a:cubicBezTo>
                      <a:pt x="0" y="203577"/>
                      <a:pt x="29190" y="133106"/>
                      <a:pt x="81148" y="81148"/>
                    </a:cubicBezTo>
                    <a:cubicBezTo>
                      <a:pt x="133106" y="29190"/>
                      <a:pt x="203577" y="0"/>
                      <a:pt x="277057" y="0"/>
                    </a:cubicBez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34798" cy="1044419"/>
              </a:xfrm>
              <a:prstGeom prst="rect">
                <a:avLst/>
              </a:prstGeom>
            </p:spPr>
            <p:txBody>
              <a:bodyPr anchor="ctr" rtlCol="false" tIns="25949" lIns="25949" bIns="25949" rIns="25949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372478" y="2031982"/>
              <a:ext cx="1544689" cy="1030597"/>
            </a:xfrm>
            <a:custGeom>
              <a:avLst/>
              <a:gdLst/>
              <a:ahLst/>
              <a:cxnLst/>
              <a:rect r="r" b="b" t="t" l="l"/>
              <a:pathLst>
                <a:path h="1030597" w="1544689">
                  <a:moveTo>
                    <a:pt x="0" y="0"/>
                  </a:moveTo>
                  <a:lnTo>
                    <a:pt x="1544688" y="0"/>
                  </a:lnTo>
                  <a:lnTo>
                    <a:pt x="1544688" y="1030597"/>
                  </a:lnTo>
                  <a:lnTo>
                    <a:pt x="0" y="1030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385051" y="3191606"/>
              <a:ext cx="1837396" cy="710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2"/>
                </a:lnSpc>
              </a:pPr>
              <a:r>
                <a:rPr lang="en-US" sz="78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Reconhecido como o primeiro jogo eletrônico digital de computador. </a:t>
              </a:r>
            </a:p>
            <a:p>
              <a:pPr algn="l">
                <a:lnSpc>
                  <a:spcPts val="1092"/>
                </a:lnSpc>
              </a:pPr>
              <a:r>
                <a:rPr lang="en-US" sz="78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Foi criado no MIT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226124" y="1412335"/>
              <a:ext cx="1837396" cy="78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</a:t>
              </a: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esenvolvimento de Spacewar!</a:t>
              </a:r>
            </a:p>
            <a:p>
              <a:pPr algn="ctr">
                <a:lnSpc>
                  <a:spcPts val="1218"/>
                </a:lnSpc>
              </a:pP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4211719" y="1476132"/>
              <a:ext cx="1906937" cy="2602293"/>
              <a:chOff x="0" y="0"/>
              <a:chExt cx="734798" cy="100273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34798" cy="1002739"/>
              </a:xfrm>
              <a:custGeom>
                <a:avLst/>
                <a:gdLst/>
                <a:ahLst/>
                <a:cxnLst/>
                <a:rect r="r" b="b" t="t" l="l"/>
                <a:pathLst>
                  <a:path h="1002739" w="734798">
                    <a:moveTo>
                      <a:pt x="276071" y="0"/>
                    </a:moveTo>
                    <a:lnTo>
                      <a:pt x="458727" y="0"/>
                    </a:lnTo>
                    <a:cubicBezTo>
                      <a:pt x="531946" y="0"/>
                      <a:pt x="602165" y="29086"/>
                      <a:pt x="653939" y="80859"/>
                    </a:cubicBezTo>
                    <a:cubicBezTo>
                      <a:pt x="705712" y="132633"/>
                      <a:pt x="734798" y="202853"/>
                      <a:pt x="734798" y="276071"/>
                    </a:cubicBezTo>
                    <a:lnTo>
                      <a:pt x="734798" y="726668"/>
                    </a:lnTo>
                    <a:cubicBezTo>
                      <a:pt x="734798" y="879138"/>
                      <a:pt x="611197" y="1002739"/>
                      <a:pt x="458727" y="1002739"/>
                    </a:cubicBezTo>
                    <a:lnTo>
                      <a:pt x="276071" y="1002739"/>
                    </a:lnTo>
                    <a:cubicBezTo>
                      <a:pt x="123601" y="1002739"/>
                      <a:pt x="0" y="879138"/>
                      <a:pt x="0" y="726668"/>
                    </a:cubicBezTo>
                    <a:lnTo>
                      <a:pt x="0" y="276071"/>
                    </a:lnTo>
                    <a:cubicBezTo>
                      <a:pt x="0" y="123601"/>
                      <a:pt x="123601" y="0"/>
                      <a:pt x="276071" y="0"/>
                    </a:cubicBezTo>
                    <a:close/>
                  </a:path>
                </a:pathLst>
              </a:custGeom>
              <a:solidFill>
                <a:srgbClr val="A717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34798" cy="1040839"/>
              </a:xfrm>
              <a:prstGeom prst="rect">
                <a:avLst/>
              </a:prstGeom>
            </p:spPr>
            <p:txBody>
              <a:bodyPr anchor="ctr" rtlCol="false" tIns="26042" lIns="26042" bIns="26042" rIns="2604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385193" y="2196595"/>
              <a:ext cx="1567315" cy="1071778"/>
            </a:xfrm>
            <a:custGeom>
              <a:avLst/>
              <a:gdLst/>
              <a:ahLst/>
              <a:cxnLst/>
              <a:rect r="r" b="b" t="t" l="l"/>
              <a:pathLst>
                <a:path h="1071778" w="1567315">
                  <a:moveTo>
                    <a:pt x="0" y="0"/>
                  </a:moveTo>
                  <a:lnTo>
                    <a:pt x="1567315" y="0"/>
                  </a:lnTo>
                  <a:lnTo>
                    <a:pt x="1567315" y="1071778"/>
                  </a:lnTo>
                  <a:lnTo>
                    <a:pt x="0" y="10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351" t="0" r="-1221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4349476" y="1480341"/>
              <a:ext cx="1631422" cy="78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</a:t>
              </a:r>
              <a:r>
                <a:rPr lang="en-US" b="true" sz="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 do Magnavox Odyssey</a:t>
              </a:r>
            </a:p>
            <a:p>
              <a:pPr algn="ctr">
                <a:lnSpc>
                  <a:spcPts val="1218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08247" y="3372755"/>
              <a:ext cx="1631422" cy="34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6"/>
                </a:lnSpc>
              </a:pP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Primeiros consoles domésticos da história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6225470" y="1476132"/>
              <a:ext cx="1906937" cy="2602293"/>
              <a:chOff x="0" y="0"/>
              <a:chExt cx="734798" cy="100273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34798" cy="1002739"/>
              </a:xfrm>
              <a:custGeom>
                <a:avLst/>
                <a:gdLst/>
                <a:ahLst/>
                <a:cxnLst/>
                <a:rect r="r" b="b" t="t" l="l"/>
                <a:pathLst>
                  <a:path h="1002739" w="734798">
                    <a:moveTo>
                      <a:pt x="276071" y="0"/>
                    </a:moveTo>
                    <a:lnTo>
                      <a:pt x="458727" y="0"/>
                    </a:lnTo>
                    <a:cubicBezTo>
                      <a:pt x="531946" y="0"/>
                      <a:pt x="602165" y="29086"/>
                      <a:pt x="653939" y="80859"/>
                    </a:cubicBezTo>
                    <a:cubicBezTo>
                      <a:pt x="705712" y="132633"/>
                      <a:pt x="734798" y="202853"/>
                      <a:pt x="734798" y="276071"/>
                    </a:cubicBezTo>
                    <a:lnTo>
                      <a:pt x="734798" y="726668"/>
                    </a:lnTo>
                    <a:cubicBezTo>
                      <a:pt x="734798" y="879138"/>
                      <a:pt x="611197" y="1002739"/>
                      <a:pt x="458727" y="1002739"/>
                    </a:cubicBezTo>
                    <a:lnTo>
                      <a:pt x="276071" y="1002739"/>
                    </a:lnTo>
                    <a:cubicBezTo>
                      <a:pt x="123601" y="1002739"/>
                      <a:pt x="0" y="879138"/>
                      <a:pt x="0" y="726668"/>
                    </a:cubicBezTo>
                    <a:lnTo>
                      <a:pt x="0" y="276071"/>
                    </a:lnTo>
                    <a:cubicBezTo>
                      <a:pt x="0" y="123601"/>
                      <a:pt x="123601" y="0"/>
                      <a:pt x="276071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734798" cy="1040839"/>
              </a:xfrm>
              <a:prstGeom prst="rect">
                <a:avLst/>
              </a:prstGeom>
            </p:spPr>
            <p:txBody>
              <a:bodyPr anchor="ctr" rtlCol="false" tIns="26042" lIns="26042" bIns="26042" rIns="2604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6375565" y="2118994"/>
              <a:ext cx="1652460" cy="826230"/>
            </a:xfrm>
            <a:custGeom>
              <a:avLst/>
              <a:gdLst/>
              <a:ahLst/>
              <a:cxnLst/>
              <a:rect r="r" b="b" t="t" l="l"/>
              <a:pathLst>
                <a:path h="826230" w="1652460">
                  <a:moveTo>
                    <a:pt x="0" y="0"/>
                  </a:moveTo>
                  <a:lnTo>
                    <a:pt x="1652459" y="0"/>
                  </a:lnTo>
                  <a:lnTo>
                    <a:pt x="1652459" y="826230"/>
                  </a:lnTo>
                  <a:lnTo>
                    <a:pt x="0" y="826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6396116" y="1412335"/>
              <a:ext cx="1631422" cy="78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</a:t>
              </a:r>
              <a:r>
                <a:rPr lang="en-US" b="true" sz="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 do </a:t>
              </a:r>
            </a:p>
            <a:p>
              <a:pPr algn="ctr">
                <a:lnSpc>
                  <a:spcPts val="1218"/>
                </a:lnSpc>
              </a:pPr>
              <a:r>
                <a:rPr lang="en-US" b="true" sz="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Atari 2600</a:t>
              </a:r>
            </a:p>
            <a:p>
              <a:pPr algn="ctr">
                <a:lnSpc>
                  <a:spcPts val="1218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396602" y="3112565"/>
              <a:ext cx="1631422" cy="520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6"/>
                </a:lnSpc>
              </a:pP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ntroduziu os cartuchos 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 tornou os videogames populares nas casas.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8237768" y="1476132"/>
              <a:ext cx="1856899" cy="2602293"/>
              <a:chOff x="0" y="0"/>
              <a:chExt cx="777277" cy="108929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77277" cy="1089291"/>
              </a:xfrm>
              <a:custGeom>
                <a:avLst/>
                <a:gdLst/>
                <a:ahLst/>
                <a:cxnLst/>
                <a:rect r="r" b="b" t="t" l="l"/>
                <a:pathLst>
                  <a:path h="1089291" w="777277">
                    <a:moveTo>
                      <a:pt x="283511" y="0"/>
                    </a:moveTo>
                    <a:lnTo>
                      <a:pt x="493767" y="0"/>
                    </a:lnTo>
                    <a:cubicBezTo>
                      <a:pt x="650345" y="0"/>
                      <a:pt x="777277" y="126932"/>
                      <a:pt x="777277" y="283511"/>
                    </a:cubicBezTo>
                    <a:lnTo>
                      <a:pt x="777277" y="805780"/>
                    </a:lnTo>
                    <a:cubicBezTo>
                      <a:pt x="777277" y="962359"/>
                      <a:pt x="650345" y="1089291"/>
                      <a:pt x="493767" y="1089291"/>
                    </a:cubicBezTo>
                    <a:lnTo>
                      <a:pt x="283511" y="1089291"/>
                    </a:lnTo>
                    <a:cubicBezTo>
                      <a:pt x="126932" y="1089291"/>
                      <a:pt x="0" y="962359"/>
                      <a:pt x="0" y="805780"/>
                    </a:cubicBezTo>
                    <a:lnTo>
                      <a:pt x="0" y="283511"/>
                    </a:lnTo>
                    <a:cubicBezTo>
                      <a:pt x="0" y="126932"/>
                      <a:pt x="126932" y="0"/>
                      <a:pt x="283511" y="0"/>
                    </a:cubicBezTo>
                    <a:close/>
                  </a:path>
                </a:pathLst>
              </a:custGeom>
              <a:solidFill>
                <a:srgbClr val="FF8A0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777277" cy="1127391"/>
              </a:xfrm>
              <a:prstGeom prst="rect">
                <a:avLst/>
              </a:prstGeom>
            </p:spPr>
            <p:txBody>
              <a:bodyPr anchor="ctr" rtlCol="false" tIns="23972" lIns="23972" bIns="23972" rIns="2397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8415321" y="1902211"/>
              <a:ext cx="1501795" cy="945136"/>
            </a:xfrm>
            <a:custGeom>
              <a:avLst/>
              <a:gdLst/>
              <a:ahLst/>
              <a:cxnLst/>
              <a:rect r="r" b="b" t="t" l="l"/>
              <a:pathLst>
                <a:path h="945136" w="1501795">
                  <a:moveTo>
                    <a:pt x="0" y="0"/>
                  </a:moveTo>
                  <a:lnTo>
                    <a:pt x="1501795" y="0"/>
                  </a:lnTo>
                  <a:lnTo>
                    <a:pt x="1501795" y="945136"/>
                  </a:lnTo>
                  <a:lnTo>
                    <a:pt x="0" y="945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8415321" y="1625176"/>
              <a:ext cx="1501795" cy="188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b="true" sz="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Era dos Arcades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8439726" y="2937309"/>
              <a:ext cx="1660815" cy="879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6"/>
                </a:lnSpc>
              </a:pP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rcades s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 popularizaram com clásssicos como Space Invaders, Pac-Man, e Donkey Kong.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3143267" y="1431385"/>
              <a:ext cx="2112296" cy="2655279"/>
              <a:chOff x="0" y="0"/>
              <a:chExt cx="895798" cy="11260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95798" cy="1126070"/>
              </a:xfrm>
              <a:custGeom>
                <a:avLst/>
                <a:gdLst/>
                <a:ahLst/>
                <a:cxnLst/>
                <a:rect r="r" b="b" t="t" l="l"/>
                <a:pathLst>
                  <a:path h="1126070" w="895798">
                    <a:moveTo>
                      <a:pt x="249231" y="0"/>
                    </a:moveTo>
                    <a:lnTo>
                      <a:pt x="646567" y="0"/>
                    </a:lnTo>
                    <a:cubicBezTo>
                      <a:pt x="712667" y="0"/>
                      <a:pt x="776060" y="26258"/>
                      <a:pt x="822800" y="72998"/>
                    </a:cubicBezTo>
                    <a:cubicBezTo>
                      <a:pt x="869540" y="119738"/>
                      <a:pt x="895798" y="183131"/>
                      <a:pt x="895798" y="249231"/>
                    </a:cubicBezTo>
                    <a:lnTo>
                      <a:pt x="895798" y="876839"/>
                    </a:lnTo>
                    <a:cubicBezTo>
                      <a:pt x="895798" y="1014485"/>
                      <a:pt x="784213" y="1126070"/>
                      <a:pt x="646567" y="1126070"/>
                    </a:cubicBezTo>
                    <a:lnTo>
                      <a:pt x="249231" y="1126070"/>
                    </a:lnTo>
                    <a:cubicBezTo>
                      <a:pt x="183131" y="1126070"/>
                      <a:pt x="119738" y="1099812"/>
                      <a:pt x="72998" y="1053072"/>
                    </a:cubicBezTo>
                    <a:cubicBezTo>
                      <a:pt x="26258" y="1006332"/>
                      <a:pt x="0" y="942939"/>
                      <a:pt x="0" y="876839"/>
                    </a:cubicBezTo>
                    <a:lnTo>
                      <a:pt x="0" y="249231"/>
                    </a:lnTo>
                    <a:cubicBezTo>
                      <a:pt x="0" y="183131"/>
                      <a:pt x="26258" y="119738"/>
                      <a:pt x="72998" y="72998"/>
                    </a:cubicBezTo>
                    <a:cubicBezTo>
                      <a:pt x="119738" y="26258"/>
                      <a:pt x="183131" y="0"/>
                      <a:pt x="249231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895798" cy="1164170"/>
              </a:xfrm>
              <a:prstGeom prst="rect">
                <a:avLst/>
              </a:prstGeom>
            </p:spPr>
            <p:txBody>
              <a:bodyPr anchor="ctr" rtlCol="false" tIns="23662" lIns="23662" bIns="23662" rIns="2366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3385173" y="3013820"/>
              <a:ext cx="1777057" cy="883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77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Concor</a:t>
              </a:r>
              <a:r>
                <a:rPr lang="en-US" sz="77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rente direto da Atari, destacou-se por ter gráficos superiores para a época e ports fiéis de jogos como Donkey Kong.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13442778" y="1852437"/>
              <a:ext cx="1487516" cy="1115637"/>
            </a:xfrm>
            <a:custGeom>
              <a:avLst/>
              <a:gdLst/>
              <a:ahLst/>
              <a:cxnLst/>
              <a:rect r="r" b="b" t="t" l="l"/>
              <a:pathLst>
                <a:path h="1115637" w="1487516">
                  <a:moveTo>
                    <a:pt x="0" y="0"/>
                  </a:moveTo>
                  <a:lnTo>
                    <a:pt x="1487516" y="0"/>
                  </a:lnTo>
                  <a:lnTo>
                    <a:pt x="1487516" y="1115637"/>
                  </a:lnTo>
                  <a:lnTo>
                    <a:pt x="0" y="111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13210841" y="1612339"/>
              <a:ext cx="1951390" cy="188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ColecoVision (1982)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5402672" y="1431385"/>
              <a:ext cx="2499080" cy="2655279"/>
              <a:chOff x="0" y="0"/>
              <a:chExt cx="1044884" cy="111019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44884" cy="1110192"/>
              </a:xfrm>
              <a:custGeom>
                <a:avLst/>
                <a:gdLst/>
                <a:ahLst/>
                <a:cxnLst/>
                <a:rect r="r" b="b" t="t" l="l"/>
                <a:pathLst>
                  <a:path h="1110192" w="1044884">
                    <a:moveTo>
                      <a:pt x="210658" y="0"/>
                    </a:moveTo>
                    <a:lnTo>
                      <a:pt x="834226" y="0"/>
                    </a:lnTo>
                    <a:cubicBezTo>
                      <a:pt x="890096" y="0"/>
                      <a:pt x="943678" y="22194"/>
                      <a:pt x="983184" y="61700"/>
                    </a:cubicBezTo>
                    <a:cubicBezTo>
                      <a:pt x="1022690" y="101206"/>
                      <a:pt x="1044884" y="154788"/>
                      <a:pt x="1044884" y="210658"/>
                    </a:cubicBezTo>
                    <a:lnTo>
                      <a:pt x="1044884" y="899534"/>
                    </a:lnTo>
                    <a:cubicBezTo>
                      <a:pt x="1044884" y="955404"/>
                      <a:pt x="1022690" y="1008986"/>
                      <a:pt x="983184" y="1048492"/>
                    </a:cubicBezTo>
                    <a:cubicBezTo>
                      <a:pt x="943678" y="1087998"/>
                      <a:pt x="890096" y="1110192"/>
                      <a:pt x="834226" y="1110192"/>
                    </a:cubicBezTo>
                    <a:lnTo>
                      <a:pt x="210658" y="1110192"/>
                    </a:lnTo>
                    <a:cubicBezTo>
                      <a:pt x="154788" y="1110192"/>
                      <a:pt x="101206" y="1087998"/>
                      <a:pt x="61700" y="1048492"/>
                    </a:cubicBezTo>
                    <a:cubicBezTo>
                      <a:pt x="22194" y="1008986"/>
                      <a:pt x="0" y="955404"/>
                      <a:pt x="0" y="899534"/>
                    </a:cubicBezTo>
                    <a:lnTo>
                      <a:pt x="0" y="210658"/>
                    </a:lnTo>
                    <a:cubicBezTo>
                      <a:pt x="0" y="154788"/>
                      <a:pt x="22194" y="101206"/>
                      <a:pt x="61700" y="61700"/>
                    </a:cubicBezTo>
                    <a:cubicBezTo>
                      <a:pt x="101206" y="22194"/>
                      <a:pt x="154788" y="0"/>
                      <a:pt x="210658" y="0"/>
                    </a:cubicBez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044884" cy="1148292"/>
              </a:xfrm>
              <a:prstGeom prst="rect">
                <a:avLst/>
              </a:prstGeom>
            </p:spPr>
            <p:txBody>
              <a:bodyPr anchor="ctr" rtlCol="false" tIns="24000" lIns="24000" bIns="24000" rIns="240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16080335" y="1806328"/>
              <a:ext cx="1143754" cy="1035386"/>
            </a:xfrm>
            <a:custGeom>
              <a:avLst/>
              <a:gdLst/>
              <a:ahLst/>
              <a:cxnLst/>
              <a:rect r="r" b="b" t="t" l="l"/>
              <a:pathLst>
                <a:path h="1035386" w="1143754">
                  <a:moveTo>
                    <a:pt x="0" y="0"/>
                  </a:moveTo>
                  <a:lnTo>
                    <a:pt x="1143754" y="0"/>
                  </a:lnTo>
                  <a:lnTo>
                    <a:pt x="1143754" y="1035386"/>
                  </a:lnTo>
                  <a:lnTo>
                    <a:pt x="0" y="103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9961" t="0" r="-7900" b="-676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15698911" y="2856729"/>
              <a:ext cx="2016312" cy="105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"/>
                </a:lnSpc>
              </a:pPr>
              <a:r>
                <a:rPr lang="en-US" sz="771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Foi responsável po</a:t>
              </a:r>
              <a:r>
                <a:rPr lang="en-US" sz="771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 salvar a indústria após a crise dos videogames de 1983. Consagrou franquias como Super Mario Bros e The Legend of Zelda.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676517" y="1572901"/>
              <a:ext cx="1951390" cy="188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NES / Nintendo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18012294" y="1386543"/>
              <a:ext cx="2905291" cy="2691882"/>
              <a:chOff x="0" y="0"/>
              <a:chExt cx="1340952" cy="124245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340952" cy="1242453"/>
              </a:xfrm>
              <a:custGeom>
                <a:avLst/>
                <a:gdLst/>
                <a:ahLst/>
                <a:cxnLst/>
                <a:rect r="r" b="b" t="t" l="l"/>
                <a:pathLst>
                  <a:path h="1242453" w="1340952">
                    <a:moveTo>
                      <a:pt x="181204" y="0"/>
                    </a:moveTo>
                    <a:lnTo>
                      <a:pt x="1159748" y="0"/>
                    </a:lnTo>
                    <a:cubicBezTo>
                      <a:pt x="1259825" y="0"/>
                      <a:pt x="1340952" y="81128"/>
                      <a:pt x="1340952" y="181204"/>
                    </a:cubicBezTo>
                    <a:lnTo>
                      <a:pt x="1340952" y="1061248"/>
                    </a:lnTo>
                    <a:cubicBezTo>
                      <a:pt x="1340952" y="1109307"/>
                      <a:pt x="1321861" y="1155397"/>
                      <a:pt x="1287879" y="1189379"/>
                    </a:cubicBezTo>
                    <a:cubicBezTo>
                      <a:pt x="1253897" y="1223361"/>
                      <a:pt x="1207807" y="1242453"/>
                      <a:pt x="1159748" y="1242453"/>
                    </a:cubicBezTo>
                    <a:lnTo>
                      <a:pt x="181204" y="1242453"/>
                    </a:lnTo>
                    <a:cubicBezTo>
                      <a:pt x="81128" y="1242453"/>
                      <a:pt x="0" y="1161325"/>
                      <a:pt x="0" y="1061248"/>
                    </a:cubicBezTo>
                    <a:lnTo>
                      <a:pt x="0" y="181204"/>
                    </a:lnTo>
                    <a:cubicBezTo>
                      <a:pt x="0" y="81128"/>
                      <a:pt x="81128" y="0"/>
                      <a:pt x="181204" y="0"/>
                    </a:cubicBezTo>
                    <a:close/>
                  </a:path>
                </a:pathLst>
              </a:custGeom>
              <a:solidFill>
                <a:srgbClr val="4910BC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340952" cy="1280553"/>
              </a:xfrm>
              <a:prstGeom prst="rect">
                <a:avLst/>
              </a:prstGeom>
            </p:spPr>
            <p:txBody>
              <a:bodyPr anchor="ctr" rtlCol="false" tIns="21741" lIns="21741" bIns="21741" rIns="21741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9" id="49"/>
            <p:cNvSpPr/>
            <p:nvPr/>
          </p:nvSpPr>
          <p:spPr>
            <a:xfrm flipH="false" flipV="false" rot="0">
              <a:off x="18585379" y="1798817"/>
              <a:ext cx="1697577" cy="933667"/>
            </a:xfrm>
            <a:custGeom>
              <a:avLst/>
              <a:gdLst/>
              <a:ahLst/>
              <a:cxnLst/>
              <a:rect r="r" b="b" t="t" l="l"/>
              <a:pathLst>
                <a:path h="933667" w="1697577">
                  <a:moveTo>
                    <a:pt x="0" y="0"/>
                  </a:moveTo>
                  <a:lnTo>
                    <a:pt x="1697577" y="0"/>
                  </a:lnTo>
                  <a:lnTo>
                    <a:pt x="1697577" y="933667"/>
                  </a:lnTo>
                  <a:lnTo>
                    <a:pt x="0" y="933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18283377" y="2770068"/>
              <a:ext cx="2504241" cy="1173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console foi a g</a:t>
              </a: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rande aposta da Sega para competir no mercado dominado pelo NES da Nintendo. Após seu lançamento inicial em 1985 no Japão, o aparelho foi reformulado e rebatizado como Master System para sua distribuição global em 1986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8322675" y="1525136"/>
              <a:ext cx="2284527" cy="188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Sega Master System</a:t>
              </a:r>
            </a:p>
          </p:txBody>
        </p:sp>
        <p:grpSp>
          <p:nvGrpSpPr>
            <p:cNvPr name="Group 52" id="52"/>
            <p:cNvGrpSpPr/>
            <p:nvPr/>
          </p:nvGrpSpPr>
          <p:grpSpPr>
            <a:xfrm rot="0">
              <a:off x="16686832" y="5436383"/>
              <a:ext cx="2257957" cy="2691882"/>
              <a:chOff x="0" y="0"/>
              <a:chExt cx="850561" cy="101401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50561" cy="1014018"/>
              </a:xfrm>
              <a:custGeom>
                <a:avLst/>
                <a:gdLst/>
                <a:ahLst/>
                <a:cxnLst/>
                <a:rect r="r" b="b" t="t" l="l"/>
                <a:pathLst>
                  <a:path h="1014018" w="850561">
                    <a:moveTo>
                      <a:pt x="233154" y="0"/>
                    </a:moveTo>
                    <a:lnTo>
                      <a:pt x="617407" y="0"/>
                    </a:lnTo>
                    <a:cubicBezTo>
                      <a:pt x="679243" y="0"/>
                      <a:pt x="738547" y="24564"/>
                      <a:pt x="782272" y="68289"/>
                    </a:cubicBezTo>
                    <a:cubicBezTo>
                      <a:pt x="825996" y="112014"/>
                      <a:pt x="850561" y="171317"/>
                      <a:pt x="850561" y="233154"/>
                    </a:cubicBezTo>
                    <a:lnTo>
                      <a:pt x="850561" y="780865"/>
                    </a:lnTo>
                    <a:cubicBezTo>
                      <a:pt x="850561" y="842701"/>
                      <a:pt x="825996" y="902004"/>
                      <a:pt x="782272" y="945729"/>
                    </a:cubicBezTo>
                    <a:cubicBezTo>
                      <a:pt x="738547" y="989454"/>
                      <a:pt x="679243" y="1014018"/>
                      <a:pt x="617407" y="1014018"/>
                    </a:cubicBezTo>
                    <a:lnTo>
                      <a:pt x="233154" y="1014018"/>
                    </a:lnTo>
                    <a:cubicBezTo>
                      <a:pt x="171317" y="1014018"/>
                      <a:pt x="112014" y="989454"/>
                      <a:pt x="68289" y="945729"/>
                    </a:cubicBezTo>
                    <a:cubicBezTo>
                      <a:pt x="24564" y="902004"/>
                      <a:pt x="0" y="842701"/>
                      <a:pt x="0" y="780865"/>
                    </a:cubicBezTo>
                    <a:lnTo>
                      <a:pt x="0" y="233154"/>
                    </a:lnTo>
                    <a:cubicBezTo>
                      <a:pt x="0" y="171317"/>
                      <a:pt x="24564" y="112014"/>
                      <a:pt x="68289" y="68289"/>
                    </a:cubicBezTo>
                    <a:cubicBezTo>
                      <a:pt x="112014" y="24564"/>
                      <a:pt x="171317" y="0"/>
                      <a:pt x="233154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850561" cy="1052118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5" id="55"/>
            <p:cNvSpPr/>
            <p:nvPr/>
          </p:nvSpPr>
          <p:spPr>
            <a:xfrm flipH="false" flipV="false" rot="0">
              <a:off x="17117507" y="6058845"/>
              <a:ext cx="1396606" cy="785591"/>
            </a:xfrm>
            <a:custGeom>
              <a:avLst/>
              <a:gdLst/>
              <a:ahLst/>
              <a:cxnLst/>
              <a:rect r="r" b="b" t="t" l="l"/>
              <a:pathLst>
                <a:path h="785591" w="1396606">
                  <a:moveTo>
                    <a:pt x="0" y="0"/>
                  </a:moveTo>
                  <a:lnTo>
                    <a:pt x="1396606" y="0"/>
                  </a:lnTo>
                  <a:lnTo>
                    <a:pt x="1396606" y="785590"/>
                  </a:lnTo>
                  <a:lnTo>
                    <a:pt x="0" y="78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 rot="0">
              <a:off x="16840743" y="5554902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</a:t>
              </a: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Nintendo 64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6795946" y="6913819"/>
              <a:ext cx="2039728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Destac</a:t>
              </a:r>
              <a:r>
                <a:rPr lang="en-US" b="true" sz="7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ou-se por ter sido o último grande console doméstico a utilizar cartuchos em vez de CDs, e por pular a geração de 32 bits para adotar uma arquitetura de processamento de 64 bits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10200029" y="1431385"/>
              <a:ext cx="2848885" cy="2655279"/>
              <a:chOff x="0" y="0"/>
              <a:chExt cx="1208176" cy="112607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208176" cy="1126070"/>
              </a:xfrm>
              <a:custGeom>
                <a:avLst/>
                <a:gdLst/>
                <a:ahLst/>
                <a:cxnLst/>
                <a:rect r="r" b="b" t="t" l="l"/>
                <a:pathLst>
                  <a:path h="1126070" w="1208176">
                    <a:moveTo>
                      <a:pt x="184792" y="0"/>
                    </a:moveTo>
                    <a:lnTo>
                      <a:pt x="1023384" y="0"/>
                    </a:lnTo>
                    <a:cubicBezTo>
                      <a:pt x="1072394" y="0"/>
                      <a:pt x="1119396" y="19469"/>
                      <a:pt x="1154052" y="54124"/>
                    </a:cubicBezTo>
                    <a:cubicBezTo>
                      <a:pt x="1188707" y="88779"/>
                      <a:pt x="1208176" y="135782"/>
                      <a:pt x="1208176" y="184792"/>
                    </a:cubicBezTo>
                    <a:lnTo>
                      <a:pt x="1208176" y="941278"/>
                    </a:lnTo>
                    <a:cubicBezTo>
                      <a:pt x="1208176" y="1043336"/>
                      <a:pt x="1125442" y="1126070"/>
                      <a:pt x="1023384" y="1126070"/>
                    </a:cubicBezTo>
                    <a:lnTo>
                      <a:pt x="184792" y="1126070"/>
                    </a:lnTo>
                    <a:cubicBezTo>
                      <a:pt x="135782" y="1126070"/>
                      <a:pt x="88779" y="1106601"/>
                      <a:pt x="54124" y="1071946"/>
                    </a:cubicBezTo>
                    <a:cubicBezTo>
                      <a:pt x="19469" y="1037291"/>
                      <a:pt x="0" y="990288"/>
                      <a:pt x="0" y="941278"/>
                    </a:cubicBezTo>
                    <a:lnTo>
                      <a:pt x="0" y="184792"/>
                    </a:lnTo>
                    <a:cubicBezTo>
                      <a:pt x="0" y="135782"/>
                      <a:pt x="19469" y="88779"/>
                      <a:pt x="54124" y="54124"/>
                    </a:cubicBezTo>
                    <a:cubicBezTo>
                      <a:pt x="88779" y="19469"/>
                      <a:pt x="135782" y="0"/>
                      <a:pt x="184792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1208176" cy="1164170"/>
              </a:xfrm>
              <a:prstGeom prst="rect">
                <a:avLst/>
              </a:prstGeom>
            </p:spPr>
            <p:txBody>
              <a:bodyPr anchor="ctr" rtlCol="false" tIns="27721" lIns="27721" bIns="27721" rIns="27721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61" id="61"/>
            <p:cNvSpPr/>
            <p:nvPr/>
          </p:nvSpPr>
          <p:spPr>
            <a:xfrm flipH="false" flipV="false" rot="0">
              <a:off x="10971937" y="1806328"/>
              <a:ext cx="1248812" cy="970951"/>
            </a:xfrm>
            <a:custGeom>
              <a:avLst/>
              <a:gdLst/>
              <a:ahLst/>
              <a:cxnLst/>
              <a:rect r="r" b="b" t="t" l="l"/>
              <a:pathLst>
                <a:path h="970951" w="1248812">
                  <a:moveTo>
                    <a:pt x="0" y="0"/>
                  </a:moveTo>
                  <a:lnTo>
                    <a:pt x="1248812" y="0"/>
                  </a:lnTo>
                  <a:lnTo>
                    <a:pt x="1248812" y="970951"/>
                  </a:lnTo>
                  <a:lnTo>
                    <a:pt x="0" y="97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10384999" y="2811970"/>
              <a:ext cx="2489948" cy="1063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2"/>
                </a:lnSpc>
              </a:pPr>
              <a:r>
                <a:rPr lang="en-US" sz="77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</a:t>
              </a:r>
              <a:r>
                <a:rPr lang="en-US" sz="77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oi o prim</a:t>
              </a:r>
              <a:r>
                <a:rPr lang="en-US" sz="77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eiro console doméstico com processador de 16 bits. Destacou-se pelo design inovador dos controles com disco direcional giratório, teclado numérico e sobreposições de plástico (overlays)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0620648" y="1552183"/>
              <a:ext cx="2142003" cy="188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Intellivi</a:t>
              </a: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sion (1980 / Mattel)</a:t>
              </a:r>
            </a:p>
          </p:txBody>
        </p:sp>
        <p:grpSp>
          <p:nvGrpSpPr>
            <p:cNvPr name="Group 64" id="64"/>
            <p:cNvGrpSpPr/>
            <p:nvPr/>
          </p:nvGrpSpPr>
          <p:grpSpPr>
            <a:xfrm rot="0">
              <a:off x="21423754" y="5436383"/>
              <a:ext cx="2063414" cy="2691882"/>
              <a:chOff x="0" y="0"/>
              <a:chExt cx="777277" cy="1014018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777277" cy="1014018"/>
              </a:xfrm>
              <a:custGeom>
                <a:avLst/>
                <a:gdLst/>
                <a:ahLst/>
                <a:cxnLst/>
                <a:rect r="r" b="b" t="t" l="l"/>
                <a:pathLst>
                  <a:path h="1014018" w="777277">
                    <a:moveTo>
                      <a:pt x="255136" y="0"/>
                    </a:moveTo>
                    <a:lnTo>
                      <a:pt x="522142" y="0"/>
                    </a:lnTo>
                    <a:cubicBezTo>
                      <a:pt x="589808" y="0"/>
                      <a:pt x="654703" y="26880"/>
                      <a:pt x="702550" y="74728"/>
                    </a:cubicBezTo>
                    <a:cubicBezTo>
                      <a:pt x="750397" y="122575"/>
                      <a:pt x="777277" y="187470"/>
                      <a:pt x="777277" y="255136"/>
                    </a:cubicBezTo>
                    <a:lnTo>
                      <a:pt x="777277" y="758883"/>
                    </a:lnTo>
                    <a:cubicBezTo>
                      <a:pt x="777277" y="899790"/>
                      <a:pt x="663049" y="1014018"/>
                      <a:pt x="522142" y="1014018"/>
                    </a:cubicBezTo>
                    <a:lnTo>
                      <a:pt x="255136" y="1014018"/>
                    </a:lnTo>
                    <a:cubicBezTo>
                      <a:pt x="187470" y="1014018"/>
                      <a:pt x="122575" y="987138"/>
                      <a:pt x="74728" y="939291"/>
                    </a:cubicBezTo>
                    <a:cubicBezTo>
                      <a:pt x="26880" y="891443"/>
                      <a:pt x="0" y="826549"/>
                      <a:pt x="0" y="758883"/>
                    </a:cubicBezTo>
                    <a:lnTo>
                      <a:pt x="0" y="255136"/>
                    </a:lnTo>
                    <a:cubicBezTo>
                      <a:pt x="0" y="187470"/>
                      <a:pt x="26880" y="122575"/>
                      <a:pt x="74728" y="74728"/>
                    </a:cubicBezTo>
                    <a:cubicBezTo>
                      <a:pt x="122575" y="26880"/>
                      <a:pt x="187470" y="0"/>
                      <a:pt x="255136" y="0"/>
                    </a:cubicBezTo>
                    <a:close/>
                  </a:path>
                </a:pathLst>
              </a:custGeom>
              <a:solidFill>
                <a:srgbClr val="E8000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777277" cy="1052118"/>
              </a:xfrm>
              <a:prstGeom prst="rect">
                <a:avLst/>
              </a:prstGeom>
            </p:spPr>
            <p:txBody>
              <a:bodyPr anchor="ctr" rtlCol="false" tIns="26128" lIns="26128" bIns="26128" rIns="2612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67" id="67"/>
            <p:cNvSpPr/>
            <p:nvPr/>
          </p:nvSpPr>
          <p:spPr>
            <a:xfrm flipH="false" flipV="false" rot="0">
              <a:off x="21635097" y="6107748"/>
              <a:ext cx="1640728" cy="961466"/>
            </a:xfrm>
            <a:custGeom>
              <a:avLst/>
              <a:gdLst/>
              <a:ahLst/>
              <a:cxnLst/>
              <a:rect r="r" b="b" t="t" l="l"/>
              <a:pathLst>
                <a:path h="961466" w="1640728">
                  <a:moveTo>
                    <a:pt x="0" y="0"/>
                  </a:moveTo>
                  <a:lnTo>
                    <a:pt x="1640727" y="0"/>
                  </a:lnTo>
                  <a:lnTo>
                    <a:pt x="1640727" y="961466"/>
                  </a:lnTo>
                  <a:lnTo>
                    <a:pt x="0" y="96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 rot="0">
              <a:off x="21593406" y="5579173"/>
              <a:ext cx="1699547" cy="38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</a:t>
              </a: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Game Boy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21518560" y="7149652"/>
              <a:ext cx="1873810" cy="8157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Game B</a:t>
              </a:r>
              <a:r>
                <a:rPr lang="en-US" b="true" sz="7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oy tornou-se símbolo da cultura gamer dos anos 1990. Tornou os jogos portáteis extremamente populares.</a:t>
              </a:r>
            </a:p>
          </p:txBody>
        </p:sp>
        <p:grpSp>
          <p:nvGrpSpPr>
            <p:cNvPr name="Group 70" id="70"/>
            <p:cNvGrpSpPr/>
            <p:nvPr/>
          </p:nvGrpSpPr>
          <p:grpSpPr>
            <a:xfrm rot="0">
              <a:off x="19055330" y="5436383"/>
              <a:ext cx="2257882" cy="2691882"/>
              <a:chOff x="0" y="0"/>
              <a:chExt cx="850533" cy="101401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50533" cy="1014018"/>
              </a:xfrm>
              <a:custGeom>
                <a:avLst/>
                <a:gdLst/>
                <a:ahLst/>
                <a:cxnLst/>
                <a:rect r="r" b="b" t="t" l="l"/>
                <a:pathLst>
                  <a:path h="1014018" w="850533">
                    <a:moveTo>
                      <a:pt x="233161" y="0"/>
                    </a:moveTo>
                    <a:lnTo>
                      <a:pt x="617371" y="0"/>
                    </a:lnTo>
                    <a:cubicBezTo>
                      <a:pt x="679210" y="0"/>
                      <a:pt x="738515" y="24565"/>
                      <a:pt x="782241" y="68291"/>
                    </a:cubicBezTo>
                    <a:cubicBezTo>
                      <a:pt x="825968" y="112018"/>
                      <a:pt x="850533" y="171323"/>
                      <a:pt x="850533" y="233161"/>
                    </a:cubicBezTo>
                    <a:lnTo>
                      <a:pt x="850533" y="780857"/>
                    </a:lnTo>
                    <a:cubicBezTo>
                      <a:pt x="850533" y="842695"/>
                      <a:pt x="825968" y="902001"/>
                      <a:pt x="782241" y="945727"/>
                    </a:cubicBezTo>
                    <a:cubicBezTo>
                      <a:pt x="738515" y="989453"/>
                      <a:pt x="679210" y="1014018"/>
                      <a:pt x="617371" y="1014018"/>
                    </a:cubicBezTo>
                    <a:lnTo>
                      <a:pt x="233161" y="1014018"/>
                    </a:lnTo>
                    <a:cubicBezTo>
                      <a:pt x="171323" y="1014018"/>
                      <a:pt x="112018" y="989453"/>
                      <a:pt x="68291" y="945727"/>
                    </a:cubicBezTo>
                    <a:cubicBezTo>
                      <a:pt x="24565" y="902001"/>
                      <a:pt x="0" y="842695"/>
                      <a:pt x="0" y="780857"/>
                    </a:cubicBezTo>
                    <a:lnTo>
                      <a:pt x="0" y="233161"/>
                    </a:lnTo>
                    <a:cubicBezTo>
                      <a:pt x="0" y="171323"/>
                      <a:pt x="24565" y="112018"/>
                      <a:pt x="68291" y="68291"/>
                    </a:cubicBezTo>
                    <a:cubicBezTo>
                      <a:pt x="112018" y="24565"/>
                      <a:pt x="171323" y="0"/>
                      <a:pt x="233161" y="0"/>
                    </a:cubicBezTo>
                    <a:close/>
                  </a:path>
                </a:pathLst>
              </a:custGeom>
              <a:solidFill>
                <a:srgbClr val="A717FF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850533" cy="1052118"/>
              </a:xfrm>
              <a:prstGeom prst="rect">
                <a:avLst/>
              </a:prstGeom>
            </p:spPr>
            <p:txBody>
              <a:bodyPr anchor="ctr" rtlCol="false" tIns="26128" lIns="26128" bIns="26128" rIns="2612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73" id="73"/>
            <p:cNvSpPr/>
            <p:nvPr/>
          </p:nvSpPr>
          <p:spPr>
            <a:xfrm flipH="false" flipV="false" rot="0">
              <a:off x="19469763" y="6023027"/>
              <a:ext cx="1407644" cy="939603"/>
            </a:xfrm>
            <a:custGeom>
              <a:avLst/>
              <a:gdLst/>
              <a:ahLst/>
              <a:cxnLst/>
              <a:rect r="r" b="b" t="t" l="l"/>
              <a:pathLst>
                <a:path h="939603" w="1407644">
                  <a:moveTo>
                    <a:pt x="0" y="0"/>
                  </a:moveTo>
                  <a:lnTo>
                    <a:pt x="1407645" y="0"/>
                  </a:lnTo>
                  <a:lnTo>
                    <a:pt x="1407645" y="939602"/>
                  </a:lnTo>
                  <a:lnTo>
                    <a:pt x="0" y="93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 rot="0">
              <a:off x="19221207" y="5541323"/>
              <a:ext cx="1950134" cy="38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PlayStation 1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19153721" y="6996194"/>
              <a:ext cx="2039728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</a:t>
              </a:r>
              <a:r>
                <a:rPr lang="en-US" b="true" sz="7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oi um dos pioneiros a utilizar a mídia CD-ROM, o que permitiu gráficos 3D mais avançados e trilhas sonoras orquestradas em jogos icônicos como Final Fantasy VII e Resident Evil.</a:t>
              </a:r>
            </a:p>
          </p:txBody>
        </p:sp>
        <p:grpSp>
          <p:nvGrpSpPr>
            <p:cNvPr name="Group 76" id="76"/>
            <p:cNvGrpSpPr/>
            <p:nvPr/>
          </p:nvGrpSpPr>
          <p:grpSpPr>
            <a:xfrm rot="0">
              <a:off x="13641209" y="5458804"/>
              <a:ext cx="2935081" cy="2647040"/>
              <a:chOff x="0" y="0"/>
              <a:chExt cx="1105630" cy="997126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105630" cy="997126"/>
              </a:xfrm>
              <a:custGeom>
                <a:avLst/>
                <a:gdLst/>
                <a:ahLst/>
                <a:cxnLst/>
                <a:rect r="r" b="b" t="t" l="l"/>
                <a:pathLst>
                  <a:path h="997126" w="1105630">
                    <a:moveTo>
                      <a:pt x="179365" y="0"/>
                    </a:moveTo>
                    <a:lnTo>
                      <a:pt x="926265" y="0"/>
                    </a:lnTo>
                    <a:cubicBezTo>
                      <a:pt x="1025325" y="0"/>
                      <a:pt x="1105630" y="80304"/>
                      <a:pt x="1105630" y="179365"/>
                    </a:cubicBezTo>
                    <a:lnTo>
                      <a:pt x="1105630" y="817761"/>
                    </a:lnTo>
                    <a:cubicBezTo>
                      <a:pt x="1105630" y="916822"/>
                      <a:pt x="1025325" y="997126"/>
                      <a:pt x="926265" y="997126"/>
                    </a:cubicBezTo>
                    <a:lnTo>
                      <a:pt x="179365" y="997126"/>
                    </a:lnTo>
                    <a:cubicBezTo>
                      <a:pt x="80304" y="997126"/>
                      <a:pt x="0" y="916822"/>
                      <a:pt x="0" y="817761"/>
                    </a:cubicBezTo>
                    <a:lnTo>
                      <a:pt x="0" y="179365"/>
                    </a:lnTo>
                    <a:cubicBezTo>
                      <a:pt x="0" y="80304"/>
                      <a:pt x="80304" y="0"/>
                      <a:pt x="179365" y="0"/>
                    </a:cubicBezTo>
                    <a:close/>
                  </a:path>
                </a:pathLst>
              </a:custGeom>
              <a:solidFill>
                <a:srgbClr val="FF1FA9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1105630" cy="1035226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79" id="79"/>
            <p:cNvSpPr/>
            <p:nvPr/>
          </p:nvSpPr>
          <p:spPr>
            <a:xfrm flipH="false" flipV="false" rot="0">
              <a:off x="14265795" y="5988494"/>
              <a:ext cx="1774457" cy="860420"/>
            </a:xfrm>
            <a:custGeom>
              <a:avLst/>
              <a:gdLst/>
              <a:ahLst/>
              <a:cxnLst/>
              <a:rect r="r" b="b" t="t" l="l"/>
              <a:pathLst>
                <a:path h="860420" w="1774457">
                  <a:moveTo>
                    <a:pt x="0" y="0"/>
                  </a:moveTo>
                  <a:lnTo>
                    <a:pt x="1774457" y="0"/>
                  </a:lnTo>
                  <a:lnTo>
                    <a:pt x="1774457" y="860420"/>
                  </a:lnTo>
                  <a:lnTo>
                    <a:pt x="0" y="860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14177957" y="5563628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Dreamcast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13775990" y="6840919"/>
              <a:ext cx="2665521" cy="1144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Lançad</a:t>
              </a:r>
              <a:r>
                <a:rPr lang="en-US" b="true" sz="7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pela Sega em 1998, foi um console revolucionário e à frente de seu tempo. Pioneiro em recursos online e interatividade, ele foi o último videogame da marca. Apesar de seu fim precoce, deixou um legado inestimável para a indústria dos games.</a:t>
              </a:r>
            </a:p>
          </p:txBody>
        </p:sp>
        <p:sp>
          <p:nvSpPr>
            <p:cNvPr name="Freeform 82" id="82"/>
            <p:cNvSpPr/>
            <p:nvPr/>
          </p:nvSpPr>
          <p:spPr>
            <a:xfrm flipH="false" flipV="false" rot="0">
              <a:off x="1104745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3031628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5080367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7144867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11549199" y="4384294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4229550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16617025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9378530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9098853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91" id="91"/>
            <p:cNvSpPr/>
            <p:nvPr/>
          </p:nvSpPr>
          <p:spPr>
            <a:xfrm>
              <a:off x="19050" y="8517569"/>
              <a:ext cx="23987349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10122855" y="8429085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12313206" y="8429085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5041068" y="8406664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20095787" y="843695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21942976" y="8456387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22644509" y="437643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17727326" y="843695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99" id="99"/>
            <p:cNvSpPr/>
            <p:nvPr/>
          </p:nvSpPr>
          <p:spPr>
            <a:xfrm>
              <a:off x="278226" y="4472778"/>
              <a:ext cx="23728173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0" id="100"/>
            <p:cNvSpPr/>
            <p:nvPr/>
          </p:nvSpPr>
          <p:spPr>
            <a:xfrm flipV="true">
              <a:off x="24006399" y="4464914"/>
              <a:ext cx="0" cy="4072093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1" id="101"/>
            <p:cNvGrpSpPr/>
            <p:nvPr/>
          </p:nvGrpSpPr>
          <p:grpSpPr>
            <a:xfrm rot="0">
              <a:off x="11272711" y="5436383"/>
              <a:ext cx="2257957" cy="2639503"/>
              <a:chOff x="0" y="0"/>
              <a:chExt cx="850561" cy="994287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850561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850561">
                    <a:moveTo>
                      <a:pt x="233154" y="0"/>
                    </a:moveTo>
                    <a:lnTo>
                      <a:pt x="617407" y="0"/>
                    </a:lnTo>
                    <a:cubicBezTo>
                      <a:pt x="679243" y="0"/>
                      <a:pt x="738547" y="24564"/>
                      <a:pt x="782272" y="68289"/>
                    </a:cubicBezTo>
                    <a:cubicBezTo>
                      <a:pt x="825996" y="112014"/>
                      <a:pt x="850561" y="171317"/>
                      <a:pt x="850561" y="233154"/>
                    </a:cubicBezTo>
                    <a:lnTo>
                      <a:pt x="850561" y="761134"/>
                    </a:lnTo>
                    <a:cubicBezTo>
                      <a:pt x="850561" y="822970"/>
                      <a:pt x="825996" y="882274"/>
                      <a:pt x="782272" y="925998"/>
                    </a:cubicBezTo>
                    <a:cubicBezTo>
                      <a:pt x="738547" y="969723"/>
                      <a:pt x="679243" y="994287"/>
                      <a:pt x="617407" y="994287"/>
                    </a:cubicBezTo>
                    <a:lnTo>
                      <a:pt x="233154" y="994287"/>
                    </a:lnTo>
                    <a:cubicBezTo>
                      <a:pt x="171317" y="994287"/>
                      <a:pt x="112014" y="969723"/>
                      <a:pt x="68289" y="925998"/>
                    </a:cubicBezTo>
                    <a:cubicBezTo>
                      <a:pt x="24564" y="882274"/>
                      <a:pt x="0" y="822970"/>
                      <a:pt x="0" y="761134"/>
                    </a:cubicBezTo>
                    <a:lnTo>
                      <a:pt x="0" y="233154"/>
                    </a:lnTo>
                    <a:cubicBezTo>
                      <a:pt x="0" y="171317"/>
                      <a:pt x="24564" y="112014"/>
                      <a:pt x="68289" y="68289"/>
                    </a:cubicBezTo>
                    <a:cubicBezTo>
                      <a:pt x="112014" y="24564"/>
                      <a:pt x="171317" y="0"/>
                      <a:pt x="233154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0" y="-38100"/>
                <a:ext cx="850561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04" id="104"/>
            <p:cNvSpPr/>
            <p:nvPr/>
          </p:nvSpPr>
          <p:spPr>
            <a:xfrm flipH="false" flipV="false" rot="0">
              <a:off x="11426623" y="5958918"/>
              <a:ext cx="1893762" cy="880686"/>
            </a:xfrm>
            <a:custGeom>
              <a:avLst/>
              <a:gdLst/>
              <a:ahLst/>
              <a:cxnLst/>
              <a:rect r="r" b="b" t="t" l="l"/>
              <a:pathLst>
                <a:path h="880686" w="1893762">
                  <a:moveTo>
                    <a:pt x="0" y="0"/>
                  </a:moveTo>
                  <a:lnTo>
                    <a:pt x="1893762" y="0"/>
                  </a:lnTo>
                  <a:lnTo>
                    <a:pt x="1893762" y="880686"/>
                  </a:lnTo>
                  <a:lnTo>
                    <a:pt x="0" y="880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 rot="0">
              <a:off x="11426623" y="5502524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de </a:t>
              </a: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EverQuest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11381826" y="6893994"/>
              <a:ext cx="2039728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Considerado um dos pioneiros do gênero, estabeleceu o modelo para muitos MMOs modernos com seu vasto mundo persistente e foco na cooperação entre jogadores.</a:t>
              </a:r>
            </a:p>
          </p:txBody>
        </p:sp>
        <p:grpSp>
          <p:nvGrpSpPr>
            <p:cNvPr name="Group 107" id="107"/>
            <p:cNvGrpSpPr/>
            <p:nvPr/>
          </p:nvGrpSpPr>
          <p:grpSpPr>
            <a:xfrm rot="0">
              <a:off x="21069985" y="1386543"/>
              <a:ext cx="2905291" cy="2691882"/>
              <a:chOff x="0" y="0"/>
              <a:chExt cx="1340952" cy="1242453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1340952" cy="1242453"/>
              </a:xfrm>
              <a:custGeom>
                <a:avLst/>
                <a:gdLst/>
                <a:ahLst/>
                <a:cxnLst/>
                <a:rect r="r" b="b" t="t" l="l"/>
                <a:pathLst>
                  <a:path h="1242453" w="1340952">
                    <a:moveTo>
                      <a:pt x="181204" y="0"/>
                    </a:moveTo>
                    <a:lnTo>
                      <a:pt x="1159748" y="0"/>
                    </a:lnTo>
                    <a:cubicBezTo>
                      <a:pt x="1259825" y="0"/>
                      <a:pt x="1340952" y="81128"/>
                      <a:pt x="1340952" y="181204"/>
                    </a:cubicBezTo>
                    <a:lnTo>
                      <a:pt x="1340952" y="1061248"/>
                    </a:lnTo>
                    <a:cubicBezTo>
                      <a:pt x="1340952" y="1109307"/>
                      <a:pt x="1321861" y="1155397"/>
                      <a:pt x="1287879" y="1189379"/>
                    </a:cubicBezTo>
                    <a:cubicBezTo>
                      <a:pt x="1253897" y="1223361"/>
                      <a:pt x="1207807" y="1242453"/>
                      <a:pt x="1159748" y="1242453"/>
                    </a:cubicBezTo>
                    <a:lnTo>
                      <a:pt x="181204" y="1242453"/>
                    </a:lnTo>
                    <a:cubicBezTo>
                      <a:pt x="81128" y="1242453"/>
                      <a:pt x="0" y="1161325"/>
                      <a:pt x="0" y="1061248"/>
                    </a:cubicBezTo>
                    <a:lnTo>
                      <a:pt x="0" y="181204"/>
                    </a:lnTo>
                    <a:cubicBezTo>
                      <a:pt x="0" y="81128"/>
                      <a:pt x="81128" y="0"/>
                      <a:pt x="181204" y="0"/>
                    </a:cubicBezTo>
                    <a:close/>
                  </a:path>
                </a:pathLst>
              </a:custGeom>
              <a:solidFill>
                <a:srgbClr val="006D11"/>
              </a:solid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38100"/>
                <a:ext cx="1340952" cy="1280553"/>
              </a:xfrm>
              <a:prstGeom prst="rect">
                <a:avLst/>
              </a:prstGeom>
            </p:spPr>
            <p:txBody>
              <a:bodyPr anchor="ctr" rtlCol="false" tIns="21741" lIns="21741" bIns="21741" rIns="21741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10" id="110"/>
            <p:cNvSpPr/>
            <p:nvPr/>
          </p:nvSpPr>
          <p:spPr>
            <a:xfrm flipH="false" flipV="false" rot="0">
              <a:off x="21872018" y="1920571"/>
              <a:ext cx="1301224" cy="1111157"/>
            </a:xfrm>
            <a:custGeom>
              <a:avLst/>
              <a:gdLst/>
              <a:ahLst/>
              <a:cxnLst/>
              <a:rect r="r" b="b" t="t" l="l"/>
              <a:pathLst>
                <a:path h="1111157" w="1301224">
                  <a:moveTo>
                    <a:pt x="0" y="0"/>
                  </a:moveTo>
                  <a:lnTo>
                    <a:pt x="1301224" y="0"/>
                  </a:lnTo>
                  <a:lnTo>
                    <a:pt x="1301224" y="1111158"/>
                  </a:lnTo>
                  <a:lnTo>
                    <a:pt x="0" y="1111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14378" t="-3271" r="-14672" b="-327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 rot="0">
              <a:off x="21209360" y="3046057"/>
              <a:ext cx="2640481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Foi lançado </a:t>
              </a:r>
              <a:r>
                <a:rPr lang="en-US" b="true" sz="72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oficialmente no Japão em 29 de outubro de 1988 e revolucionou o mercado de videogames de 16 bits. O console desafiou diretamente a soberania da Nintendo com estratégias ousadas de marketing e tecnologia inovadora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0">
              <a:off x="21364118" y="1491483"/>
              <a:ext cx="2284527" cy="38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Sega </a:t>
              </a: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Mega Drive</a:t>
              </a:r>
            </a:p>
          </p:txBody>
        </p:sp>
        <p:grpSp>
          <p:nvGrpSpPr>
            <p:cNvPr name="Group 113" id="113"/>
            <p:cNvGrpSpPr/>
            <p:nvPr/>
          </p:nvGrpSpPr>
          <p:grpSpPr>
            <a:xfrm rot="0">
              <a:off x="4342827" y="5458804"/>
              <a:ext cx="2344456" cy="2639503"/>
              <a:chOff x="0" y="0"/>
              <a:chExt cx="883144" cy="994287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883144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883144">
                    <a:moveTo>
                      <a:pt x="224551" y="0"/>
                    </a:moveTo>
                    <a:lnTo>
                      <a:pt x="658593" y="0"/>
                    </a:lnTo>
                    <a:cubicBezTo>
                      <a:pt x="718148" y="0"/>
                      <a:pt x="775263" y="23658"/>
                      <a:pt x="817375" y="65770"/>
                    </a:cubicBezTo>
                    <a:cubicBezTo>
                      <a:pt x="859486" y="107881"/>
                      <a:pt x="883144" y="164997"/>
                      <a:pt x="883144" y="224551"/>
                    </a:cubicBezTo>
                    <a:lnTo>
                      <a:pt x="883144" y="769736"/>
                    </a:lnTo>
                    <a:cubicBezTo>
                      <a:pt x="883144" y="829291"/>
                      <a:pt x="859486" y="886406"/>
                      <a:pt x="817375" y="928518"/>
                    </a:cubicBezTo>
                    <a:cubicBezTo>
                      <a:pt x="775263" y="970629"/>
                      <a:pt x="718148" y="994287"/>
                      <a:pt x="658593" y="994287"/>
                    </a:cubicBezTo>
                    <a:lnTo>
                      <a:pt x="224551" y="994287"/>
                    </a:lnTo>
                    <a:cubicBezTo>
                      <a:pt x="164997" y="994287"/>
                      <a:pt x="107881" y="970629"/>
                      <a:pt x="65770" y="928518"/>
                    </a:cubicBezTo>
                    <a:cubicBezTo>
                      <a:pt x="23658" y="886406"/>
                      <a:pt x="0" y="829291"/>
                      <a:pt x="0" y="769736"/>
                    </a:cubicBezTo>
                    <a:lnTo>
                      <a:pt x="0" y="224551"/>
                    </a:lnTo>
                    <a:cubicBezTo>
                      <a:pt x="0" y="164997"/>
                      <a:pt x="23658" y="107881"/>
                      <a:pt x="65770" y="65770"/>
                    </a:cubicBezTo>
                    <a:cubicBezTo>
                      <a:pt x="107881" y="23658"/>
                      <a:pt x="164997" y="0"/>
                      <a:pt x="224551" y="0"/>
                    </a:cubicBezTo>
                    <a:close/>
                  </a:path>
                </a:pathLst>
              </a:custGeom>
              <a:solidFill>
                <a:srgbClr val="FF8A00"/>
              </a:solidFill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0" y="-38100"/>
                <a:ext cx="883144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16" id="116"/>
            <p:cNvSpPr/>
            <p:nvPr/>
          </p:nvSpPr>
          <p:spPr>
            <a:xfrm flipH="false" flipV="false" rot="0">
              <a:off x="4342827" y="6014941"/>
              <a:ext cx="2330361" cy="945425"/>
            </a:xfrm>
            <a:custGeom>
              <a:avLst/>
              <a:gdLst/>
              <a:ahLst/>
              <a:cxnLst/>
              <a:rect r="r" b="b" t="t" l="l"/>
              <a:pathLst>
                <a:path h="945425" w="2330361">
                  <a:moveTo>
                    <a:pt x="0" y="0"/>
                  </a:moveTo>
                  <a:lnTo>
                    <a:pt x="2330361" y="0"/>
                  </a:lnTo>
                  <a:lnTo>
                    <a:pt x="2330361" y="945425"/>
                  </a:lnTo>
                  <a:lnTo>
                    <a:pt x="0" y="94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 rot="0">
              <a:off x="4500822" y="5599432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de </a:t>
              </a: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World of Warcraft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4484211" y="6942463"/>
              <a:ext cx="2039728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World of Warcraft redefiniu o gênero MMORPG, alcançando o pico de 12 milhões de assinantes em 2010 e mantendo-se entre os maiores sucessos da Activision Blizzard.</a:t>
              </a:r>
            </a:p>
          </p:txBody>
        </p:sp>
        <p:sp>
          <p:nvSpPr>
            <p:cNvPr name="Freeform 119" id="119"/>
            <p:cNvSpPr/>
            <p:nvPr/>
          </p:nvSpPr>
          <p:spPr>
            <a:xfrm flipH="false" flipV="false" rot="0">
              <a:off x="7875892" y="8448523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0" id="120"/>
            <p:cNvGrpSpPr/>
            <p:nvPr/>
          </p:nvGrpSpPr>
          <p:grpSpPr>
            <a:xfrm rot="0">
              <a:off x="9233293" y="5458804"/>
              <a:ext cx="1956091" cy="2639503"/>
              <a:chOff x="0" y="0"/>
              <a:chExt cx="736850" cy="994287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736850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736850">
                    <a:moveTo>
                      <a:pt x="269134" y="0"/>
                    </a:moveTo>
                    <a:lnTo>
                      <a:pt x="467716" y="0"/>
                    </a:lnTo>
                    <a:cubicBezTo>
                      <a:pt x="539094" y="0"/>
                      <a:pt x="607550" y="28355"/>
                      <a:pt x="658022" y="78828"/>
                    </a:cubicBezTo>
                    <a:cubicBezTo>
                      <a:pt x="708494" y="129300"/>
                      <a:pt x="736850" y="197755"/>
                      <a:pt x="736850" y="269134"/>
                    </a:cubicBezTo>
                    <a:lnTo>
                      <a:pt x="736850" y="725153"/>
                    </a:lnTo>
                    <a:cubicBezTo>
                      <a:pt x="736850" y="873792"/>
                      <a:pt x="616354" y="994287"/>
                      <a:pt x="467716" y="994287"/>
                    </a:cubicBezTo>
                    <a:lnTo>
                      <a:pt x="269134" y="994287"/>
                    </a:lnTo>
                    <a:cubicBezTo>
                      <a:pt x="120495" y="994287"/>
                      <a:pt x="0" y="873792"/>
                      <a:pt x="0" y="725153"/>
                    </a:cubicBezTo>
                    <a:lnTo>
                      <a:pt x="0" y="269134"/>
                    </a:lnTo>
                    <a:cubicBezTo>
                      <a:pt x="0" y="120495"/>
                      <a:pt x="120495" y="0"/>
                      <a:pt x="269134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0" y="-38100"/>
                <a:ext cx="736850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3" id="123"/>
            <p:cNvSpPr/>
            <p:nvPr/>
          </p:nvSpPr>
          <p:spPr>
            <a:xfrm flipH="false" flipV="false" rot="0">
              <a:off x="9400454" y="6096955"/>
              <a:ext cx="1599151" cy="897085"/>
            </a:xfrm>
            <a:custGeom>
              <a:avLst/>
              <a:gdLst/>
              <a:ahLst/>
              <a:cxnLst/>
              <a:rect r="r" b="b" t="t" l="l"/>
              <a:pathLst>
                <a:path h="897085" w="1599151">
                  <a:moveTo>
                    <a:pt x="0" y="0"/>
                  </a:moveTo>
                  <a:lnTo>
                    <a:pt x="1599150" y="0"/>
                  </a:lnTo>
                  <a:lnTo>
                    <a:pt x="1599150" y="897084"/>
                  </a:lnTo>
                  <a:lnTo>
                    <a:pt x="0" y="89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 rot="0">
              <a:off x="9236271" y="5607833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PlayStation 2</a:t>
              </a:r>
            </a:p>
          </p:txBody>
        </p:sp>
        <p:sp>
          <p:nvSpPr>
            <p:cNvPr name="TextBox 125" id="125"/>
            <p:cNvSpPr txBox="true"/>
            <p:nvPr/>
          </p:nvSpPr>
          <p:spPr>
            <a:xfrm rot="0">
              <a:off x="9261486" y="7118988"/>
              <a:ext cx="1877086" cy="651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PS2 é o console mais vendido de todos os tempos, com mais de 157 milhões de unidades comercializadas</a:t>
              </a:r>
            </a:p>
          </p:txBody>
        </p:sp>
        <p:grpSp>
          <p:nvGrpSpPr>
            <p:cNvPr name="Group 126" id="126"/>
            <p:cNvGrpSpPr/>
            <p:nvPr/>
          </p:nvGrpSpPr>
          <p:grpSpPr>
            <a:xfrm rot="0">
              <a:off x="6783347" y="5488762"/>
              <a:ext cx="2362058" cy="2639503"/>
              <a:chOff x="0" y="0"/>
              <a:chExt cx="889775" cy="994287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889775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889775">
                    <a:moveTo>
                      <a:pt x="222878" y="0"/>
                    </a:moveTo>
                    <a:lnTo>
                      <a:pt x="666897" y="0"/>
                    </a:lnTo>
                    <a:cubicBezTo>
                      <a:pt x="726008" y="0"/>
                      <a:pt x="782698" y="23482"/>
                      <a:pt x="824496" y="65279"/>
                    </a:cubicBezTo>
                    <a:cubicBezTo>
                      <a:pt x="866294" y="107077"/>
                      <a:pt x="889775" y="163767"/>
                      <a:pt x="889775" y="222878"/>
                    </a:cubicBezTo>
                    <a:lnTo>
                      <a:pt x="889775" y="771410"/>
                    </a:lnTo>
                    <a:cubicBezTo>
                      <a:pt x="889775" y="894502"/>
                      <a:pt x="789989" y="994287"/>
                      <a:pt x="666897" y="994287"/>
                    </a:cubicBezTo>
                    <a:lnTo>
                      <a:pt x="222878" y="994287"/>
                    </a:lnTo>
                    <a:cubicBezTo>
                      <a:pt x="99786" y="994287"/>
                      <a:pt x="0" y="894502"/>
                      <a:pt x="0" y="771410"/>
                    </a:cubicBezTo>
                    <a:lnTo>
                      <a:pt x="0" y="222878"/>
                    </a:lnTo>
                    <a:cubicBezTo>
                      <a:pt x="0" y="99786"/>
                      <a:pt x="99786" y="0"/>
                      <a:pt x="222878" y="0"/>
                    </a:cubicBezTo>
                    <a:close/>
                  </a:path>
                </a:pathLst>
              </a:custGeom>
              <a:solidFill>
                <a:srgbClr val="006D11"/>
              </a:solidFill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-38100"/>
                <a:ext cx="889775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9" id="129"/>
            <p:cNvSpPr/>
            <p:nvPr/>
          </p:nvSpPr>
          <p:spPr>
            <a:xfrm flipH="false" flipV="false" rot="0">
              <a:off x="7064359" y="5575115"/>
              <a:ext cx="1804707" cy="1804707"/>
            </a:xfrm>
            <a:custGeom>
              <a:avLst/>
              <a:gdLst/>
              <a:ahLst/>
              <a:cxnLst/>
              <a:rect r="r" b="b" t="t" l="l"/>
              <a:pathLst>
                <a:path h="1804707" w="1804707">
                  <a:moveTo>
                    <a:pt x="0" y="0"/>
                  </a:moveTo>
                  <a:lnTo>
                    <a:pt x="1804707" y="0"/>
                  </a:lnTo>
                  <a:lnTo>
                    <a:pt x="1804707" y="1804707"/>
                  </a:lnTo>
                  <a:lnTo>
                    <a:pt x="0" y="1804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 rot="0">
              <a:off x="6991645" y="5629908"/>
              <a:ext cx="1950134" cy="188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Xbox</a:t>
              </a:r>
            </a:p>
          </p:txBody>
        </p:sp>
        <p:sp>
          <p:nvSpPr>
            <p:cNvPr name="TextBox 131" id="131"/>
            <p:cNvSpPr txBox="true"/>
            <p:nvPr/>
          </p:nvSpPr>
          <p:spPr>
            <a:xfrm rot="0">
              <a:off x="6851637" y="7004947"/>
              <a:ext cx="2230150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Ele marcou a entrada da Microsoft no mercado de videogames e trouxe grandes inovações para a indústria de consoles, como um disco rígido (HD) interno e conexão de banda larga nativa.</a:t>
              </a:r>
            </a:p>
          </p:txBody>
        </p:sp>
        <p:sp>
          <p:nvSpPr>
            <p:cNvPr name="Freeform 132" id="132"/>
            <p:cNvSpPr/>
            <p:nvPr/>
          </p:nvSpPr>
          <p:spPr>
            <a:xfrm flipH="false" flipV="false" rot="0">
              <a:off x="5426571" y="843695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3" id="133"/>
            <p:cNvGrpSpPr/>
            <p:nvPr/>
          </p:nvGrpSpPr>
          <p:grpSpPr>
            <a:xfrm rot="0">
              <a:off x="2177356" y="5488762"/>
              <a:ext cx="2069406" cy="2639503"/>
              <a:chOff x="0" y="0"/>
              <a:chExt cx="779535" cy="994287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779535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779535">
                    <a:moveTo>
                      <a:pt x="254397" y="0"/>
                    </a:moveTo>
                    <a:lnTo>
                      <a:pt x="525138" y="0"/>
                    </a:lnTo>
                    <a:cubicBezTo>
                      <a:pt x="665637" y="0"/>
                      <a:pt x="779535" y="113897"/>
                      <a:pt x="779535" y="254397"/>
                    </a:cubicBezTo>
                    <a:lnTo>
                      <a:pt x="779535" y="739890"/>
                    </a:lnTo>
                    <a:cubicBezTo>
                      <a:pt x="779535" y="807361"/>
                      <a:pt x="752732" y="872068"/>
                      <a:pt x="705023" y="919776"/>
                    </a:cubicBezTo>
                    <a:cubicBezTo>
                      <a:pt x="657315" y="967485"/>
                      <a:pt x="592608" y="994287"/>
                      <a:pt x="525138" y="994287"/>
                    </a:cubicBezTo>
                    <a:lnTo>
                      <a:pt x="254397" y="994287"/>
                    </a:lnTo>
                    <a:cubicBezTo>
                      <a:pt x="186927" y="994287"/>
                      <a:pt x="122220" y="967485"/>
                      <a:pt x="74511" y="919776"/>
                    </a:cubicBezTo>
                    <a:cubicBezTo>
                      <a:pt x="26802" y="872068"/>
                      <a:pt x="0" y="807361"/>
                      <a:pt x="0" y="739890"/>
                    </a:cubicBezTo>
                    <a:lnTo>
                      <a:pt x="0" y="254397"/>
                    </a:lnTo>
                    <a:cubicBezTo>
                      <a:pt x="0" y="186927"/>
                      <a:pt x="26802" y="122220"/>
                      <a:pt x="74511" y="74511"/>
                    </a:cubicBezTo>
                    <a:cubicBezTo>
                      <a:pt x="122220" y="26802"/>
                      <a:pt x="186927" y="0"/>
                      <a:pt x="254397" y="0"/>
                    </a:cubicBezTo>
                    <a:close/>
                  </a:path>
                </a:pathLst>
              </a:custGeom>
              <a:solidFill>
                <a:srgbClr val="E80000"/>
              </a:solid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38100"/>
                <a:ext cx="779535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36" id="136"/>
            <p:cNvSpPr/>
            <p:nvPr/>
          </p:nvSpPr>
          <p:spPr>
            <a:xfrm flipH="false" flipV="false" rot="0">
              <a:off x="2265283" y="6004091"/>
              <a:ext cx="1894350" cy="1066534"/>
            </a:xfrm>
            <a:custGeom>
              <a:avLst/>
              <a:gdLst/>
              <a:ahLst/>
              <a:cxnLst/>
              <a:rect r="r" b="b" t="t" l="l"/>
              <a:pathLst>
                <a:path h="1066534" w="1894350">
                  <a:moveTo>
                    <a:pt x="0" y="0"/>
                  </a:moveTo>
                  <a:lnTo>
                    <a:pt x="1894350" y="0"/>
                  </a:lnTo>
                  <a:lnTo>
                    <a:pt x="1894350" y="1066535"/>
                  </a:lnTo>
                  <a:lnTo>
                    <a:pt x="0" y="106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 rot="0">
              <a:off x="2376490" y="5390427"/>
              <a:ext cx="1601697" cy="78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Nintendo Wii</a:t>
              </a:r>
            </a:p>
            <a:p>
              <a:pPr algn="ctr">
                <a:lnSpc>
                  <a:spcPts val="1218"/>
                </a:lnSpc>
              </a:pPr>
            </a:p>
          </p:txBody>
        </p:sp>
        <p:sp>
          <p:nvSpPr>
            <p:cNvPr name="TextBox 138" id="138"/>
            <p:cNvSpPr txBox="true"/>
            <p:nvPr/>
          </p:nvSpPr>
          <p:spPr>
            <a:xfrm rot="0">
              <a:off x="2211485" y="7033147"/>
              <a:ext cx="1962608" cy="97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Destacou-se por introduzir controles de movimento acessíveis que transformaram a jogabilidade e atraíram públicos além dos gamers tradicionais.</a:t>
              </a:r>
            </a:p>
          </p:txBody>
        </p:sp>
        <p:sp>
          <p:nvSpPr>
            <p:cNvPr name="Freeform 139" id="139"/>
            <p:cNvSpPr/>
            <p:nvPr/>
          </p:nvSpPr>
          <p:spPr>
            <a:xfrm flipH="false" flipV="false" rot="0">
              <a:off x="3064176" y="843695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1043384" y="8433819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1" id="141"/>
            <p:cNvGrpSpPr/>
            <p:nvPr/>
          </p:nvGrpSpPr>
          <p:grpSpPr>
            <a:xfrm rot="0">
              <a:off x="194560" y="5488762"/>
              <a:ext cx="1892183" cy="2639503"/>
              <a:chOff x="0" y="0"/>
              <a:chExt cx="712775" cy="994287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712775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712775">
                    <a:moveTo>
                      <a:pt x="278224" y="0"/>
                    </a:moveTo>
                    <a:lnTo>
                      <a:pt x="434552" y="0"/>
                    </a:lnTo>
                    <a:cubicBezTo>
                      <a:pt x="508341" y="0"/>
                      <a:pt x="579108" y="29313"/>
                      <a:pt x="631286" y="81490"/>
                    </a:cubicBezTo>
                    <a:cubicBezTo>
                      <a:pt x="683463" y="133667"/>
                      <a:pt x="712775" y="204434"/>
                      <a:pt x="712775" y="278224"/>
                    </a:cubicBezTo>
                    <a:lnTo>
                      <a:pt x="712775" y="716063"/>
                    </a:lnTo>
                    <a:cubicBezTo>
                      <a:pt x="712775" y="789853"/>
                      <a:pt x="683463" y="860620"/>
                      <a:pt x="631286" y="912797"/>
                    </a:cubicBezTo>
                    <a:cubicBezTo>
                      <a:pt x="579108" y="964975"/>
                      <a:pt x="508341" y="994287"/>
                      <a:pt x="434552" y="994287"/>
                    </a:cubicBezTo>
                    <a:lnTo>
                      <a:pt x="278224" y="994287"/>
                    </a:lnTo>
                    <a:cubicBezTo>
                      <a:pt x="124565" y="994287"/>
                      <a:pt x="0" y="869722"/>
                      <a:pt x="0" y="716063"/>
                    </a:cubicBezTo>
                    <a:lnTo>
                      <a:pt x="0" y="278224"/>
                    </a:lnTo>
                    <a:cubicBezTo>
                      <a:pt x="0" y="204434"/>
                      <a:pt x="29313" y="133667"/>
                      <a:pt x="81490" y="81490"/>
                    </a:cubicBezTo>
                    <a:cubicBezTo>
                      <a:pt x="133667" y="29313"/>
                      <a:pt x="204434" y="0"/>
                      <a:pt x="278224" y="0"/>
                    </a:cubicBezTo>
                    <a:close/>
                  </a:path>
                </a:pathLst>
              </a:custGeom>
              <a:solidFill>
                <a:srgbClr val="4910BC"/>
              </a:solidFill>
            </p:spPr>
          </p:sp>
          <p:sp>
            <p:nvSpPr>
              <p:cNvPr name="TextBox 143" id="143"/>
              <p:cNvSpPr txBox="true"/>
              <p:nvPr/>
            </p:nvSpPr>
            <p:spPr>
              <a:xfrm>
                <a:off x="0" y="-38100"/>
                <a:ext cx="712775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44" id="144"/>
            <p:cNvSpPr/>
            <p:nvPr/>
          </p:nvSpPr>
          <p:spPr>
            <a:xfrm flipH="false" flipV="false" rot="0">
              <a:off x="141909" y="6060875"/>
              <a:ext cx="1967217" cy="1091115"/>
            </a:xfrm>
            <a:custGeom>
              <a:avLst/>
              <a:gdLst/>
              <a:ahLst/>
              <a:cxnLst/>
              <a:rect r="r" b="b" t="t" l="l"/>
              <a:pathLst>
                <a:path h="1091115" w="1967217">
                  <a:moveTo>
                    <a:pt x="0" y="0"/>
                  </a:moveTo>
                  <a:lnTo>
                    <a:pt x="1967218" y="0"/>
                  </a:lnTo>
                  <a:lnTo>
                    <a:pt x="1967218" y="1091115"/>
                  </a:lnTo>
                  <a:lnTo>
                    <a:pt x="0" y="1091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4562" t="0" r="-4562" b="-10668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 rot="0">
              <a:off x="350969" y="5702717"/>
              <a:ext cx="1601697" cy="38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Popularização dos smartphones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159219" y="7287147"/>
              <a:ext cx="1962608" cy="48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mercado de jogos móveis começou a crescer rapidamente.</a:t>
              </a:r>
            </a:p>
          </p:txBody>
        </p:sp>
        <p:sp>
          <p:nvSpPr>
            <p:cNvPr name="AutoShape 147" id="147"/>
            <p:cNvSpPr/>
            <p:nvPr/>
          </p:nvSpPr>
          <p:spPr>
            <a:xfrm flipV="true">
              <a:off x="19050" y="8504958"/>
              <a:ext cx="0" cy="3752117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8" id="148"/>
            <p:cNvSpPr/>
            <p:nvPr/>
          </p:nvSpPr>
          <p:spPr>
            <a:xfrm>
              <a:off x="19050" y="12249211"/>
              <a:ext cx="23987349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10401465" y="12160727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12746666" y="12160727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15078596" y="12138306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19902931" y="12168591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22433579" y="12188029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7"/>
                  </a:lnTo>
                  <a:lnTo>
                    <a:pt x="0" y="176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17579664" y="12168591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5" id="155"/>
            <p:cNvSpPr/>
            <p:nvPr/>
          </p:nvSpPr>
          <p:spPr>
            <a:xfrm flipH="false" flipV="false" rot="0">
              <a:off x="7769317" y="12180164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8" y="0"/>
                  </a:lnTo>
                  <a:lnTo>
                    <a:pt x="176968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5262941" y="12168591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3014255" y="12168591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1016262" y="12165460"/>
              <a:ext cx="176967" cy="176967"/>
            </a:xfrm>
            <a:custGeom>
              <a:avLst/>
              <a:gdLst/>
              <a:ahLst/>
              <a:cxnLst/>
              <a:rect r="r" b="b" t="t" l="l"/>
              <a:pathLst>
                <a:path h="176967" w="176967">
                  <a:moveTo>
                    <a:pt x="0" y="0"/>
                  </a:moveTo>
                  <a:lnTo>
                    <a:pt x="176967" y="0"/>
                  </a:lnTo>
                  <a:lnTo>
                    <a:pt x="176967" y="176968"/>
                  </a:lnTo>
                  <a:lnTo>
                    <a:pt x="0" y="17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9" id="159"/>
            <p:cNvGrpSpPr/>
            <p:nvPr/>
          </p:nvGrpSpPr>
          <p:grpSpPr>
            <a:xfrm rot="0">
              <a:off x="255921" y="9284657"/>
              <a:ext cx="1677917" cy="2639503"/>
              <a:chOff x="0" y="0"/>
              <a:chExt cx="632063" cy="994287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632063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632063">
                    <a:moveTo>
                      <a:pt x="313752" y="0"/>
                    </a:moveTo>
                    <a:lnTo>
                      <a:pt x="318310" y="0"/>
                    </a:lnTo>
                    <a:cubicBezTo>
                      <a:pt x="491591" y="0"/>
                      <a:pt x="632063" y="140472"/>
                      <a:pt x="632063" y="313752"/>
                    </a:cubicBezTo>
                    <a:lnTo>
                      <a:pt x="632063" y="680535"/>
                    </a:lnTo>
                    <a:cubicBezTo>
                      <a:pt x="632063" y="853816"/>
                      <a:pt x="491591" y="994287"/>
                      <a:pt x="318310" y="994287"/>
                    </a:cubicBezTo>
                    <a:lnTo>
                      <a:pt x="313752" y="994287"/>
                    </a:lnTo>
                    <a:cubicBezTo>
                      <a:pt x="140472" y="994287"/>
                      <a:pt x="0" y="853816"/>
                      <a:pt x="0" y="680535"/>
                    </a:cubicBezTo>
                    <a:lnTo>
                      <a:pt x="0" y="313752"/>
                    </a:lnTo>
                    <a:cubicBezTo>
                      <a:pt x="0" y="140472"/>
                      <a:pt x="140472" y="0"/>
                      <a:pt x="313752" y="0"/>
                    </a:cubicBezTo>
                    <a:close/>
                  </a:path>
                </a:pathLst>
              </a:custGeom>
              <a:solidFill>
                <a:srgbClr val="006D11"/>
              </a:solidFill>
            </p:spPr>
          </p:sp>
          <p:sp>
            <p:nvSpPr>
              <p:cNvPr name="TextBox 161" id="161"/>
              <p:cNvSpPr txBox="true"/>
              <p:nvPr/>
            </p:nvSpPr>
            <p:spPr>
              <a:xfrm>
                <a:off x="0" y="-38100"/>
                <a:ext cx="632063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62" id="162"/>
            <p:cNvSpPr/>
            <p:nvPr/>
          </p:nvSpPr>
          <p:spPr>
            <a:xfrm flipH="false" flipV="false" rot="0">
              <a:off x="519854" y="10072670"/>
              <a:ext cx="1150050" cy="990103"/>
            </a:xfrm>
            <a:custGeom>
              <a:avLst/>
              <a:gdLst/>
              <a:ahLst/>
              <a:cxnLst/>
              <a:rect r="r" b="b" t="t" l="l"/>
              <a:pathLst>
                <a:path h="990103" w="1150050">
                  <a:moveTo>
                    <a:pt x="0" y="0"/>
                  </a:moveTo>
                  <a:lnTo>
                    <a:pt x="1150050" y="0"/>
                  </a:lnTo>
                  <a:lnTo>
                    <a:pt x="1150050" y="990103"/>
                  </a:lnTo>
                  <a:lnTo>
                    <a:pt x="0" y="990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16756" t="0" r="-21629" b="-2239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 rot="0">
              <a:off x="347577" y="9550530"/>
              <a:ext cx="1514336" cy="38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das lojas de aplicativos</a:t>
              </a:r>
            </a:p>
          </p:txBody>
        </p:sp>
        <p:sp>
          <p:nvSpPr>
            <p:cNvPr name="TextBox 164" id="164"/>
            <p:cNvSpPr txBox="true"/>
            <p:nvPr/>
          </p:nvSpPr>
          <p:spPr>
            <a:xfrm rot="0">
              <a:off x="387343" y="11234223"/>
              <a:ext cx="1463651" cy="322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Facilitou a distribuição de jogos mobile.</a:t>
              </a:r>
            </a:p>
          </p:txBody>
        </p:sp>
        <p:grpSp>
          <p:nvGrpSpPr>
            <p:cNvPr name="Group 165" id="165"/>
            <p:cNvGrpSpPr/>
            <p:nvPr/>
          </p:nvGrpSpPr>
          <p:grpSpPr>
            <a:xfrm rot="0">
              <a:off x="2029473" y="9385301"/>
              <a:ext cx="2069406" cy="2639503"/>
              <a:chOff x="0" y="0"/>
              <a:chExt cx="779535" cy="994287"/>
            </a:xfrm>
          </p:grpSpPr>
          <p:sp>
            <p:nvSpPr>
              <p:cNvPr name="Freeform 166" id="166"/>
              <p:cNvSpPr/>
              <p:nvPr/>
            </p:nvSpPr>
            <p:spPr>
              <a:xfrm flipH="false" flipV="false" rot="0">
                <a:off x="0" y="0"/>
                <a:ext cx="779535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779535">
                    <a:moveTo>
                      <a:pt x="254397" y="0"/>
                    </a:moveTo>
                    <a:lnTo>
                      <a:pt x="525138" y="0"/>
                    </a:lnTo>
                    <a:cubicBezTo>
                      <a:pt x="665637" y="0"/>
                      <a:pt x="779535" y="113897"/>
                      <a:pt x="779535" y="254397"/>
                    </a:cubicBezTo>
                    <a:lnTo>
                      <a:pt x="779535" y="739890"/>
                    </a:lnTo>
                    <a:cubicBezTo>
                      <a:pt x="779535" y="807361"/>
                      <a:pt x="752732" y="872068"/>
                      <a:pt x="705023" y="919776"/>
                    </a:cubicBezTo>
                    <a:cubicBezTo>
                      <a:pt x="657315" y="967485"/>
                      <a:pt x="592608" y="994287"/>
                      <a:pt x="525138" y="994287"/>
                    </a:cubicBezTo>
                    <a:lnTo>
                      <a:pt x="254397" y="994287"/>
                    </a:lnTo>
                    <a:cubicBezTo>
                      <a:pt x="186927" y="994287"/>
                      <a:pt x="122220" y="967485"/>
                      <a:pt x="74511" y="919776"/>
                    </a:cubicBezTo>
                    <a:cubicBezTo>
                      <a:pt x="26802" y="872068"/>
                      <a:pt x="0" y="807361"/>
                      <a:pt x="0" y="739890"/>
                    </a:cubicBezTo>
                    <a:lnTo>
                      <a:pt x="0" y="254397"/>
                    </a:lnTo>
                    <a:cubicBezTo>
                      <a:pt x="0" y="186927"/>
                      <a:pt x="26802" y="122220"/>
                      <a:pt x="74511" y="74511"/>
                    </a:cubicBezTo>
                    <a:cubicBezTo>
                      <a:pt x="122220" y="26802"/>
                      <a:pt x="186927" y="0"/>
                      <a:pt x="254397" y="0"/>
                    </a:cubicBezTo>
                    <a:close/>
                  </a:path>
                </a:pathLst>
              </a:custGeom>
              <a:solidFill>
                <a:srgbClr val="A717FF"/>
              </a:solidFill>
            </p:spPr>
          </p:sp>
          <p:sp>
            <p:nvSpPr>
              <p:cNvPr name="TextBox 167" id="167"/>
              <p:cNvSpPr txBox="true"/>
              <p:nvPr/>
            </p:nvSpPr>
            <p:spPr>
              <a:xfrm>
                <a:off x="0" y="-38100"/>
                <a:ext cx="779535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68" id="168"/>
            <p:cNvSpPr/>
            <p:nvPr/>
          </p:nvSpPr>
          <p:spPr>
            <a:xfrm flipH="false" flipV="false" rot="0">
              <a:off x="2179738" y="9931084"/>
              <a:ext cx="1768875" cy="752353"/>
            </a:xfrm>
            <a:custGeom>
              <a:avLst/>
              <a:gdLst/>
              <a:ahLst/>
              <a:cxnLst/>
              <a:rect r="r" b="b" t="t" l="l"/>
              <a:pathLst>
                <a:path h="752353" w="1768875">
                  <a:moveTo>
                    <a:pt x="0" y="0"/>
                  </a:moveTo>
                  <a:lnTo>
                    <a:pt x="1768876" y="0"/>
                  </a:lnTo>
                  <a:lnTo>
                    <a:pt x="1768876" y="752353"/>
                  </a:lnTo>
                  <a:lnTo>
                    <a:pt x="0" y="752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5146" t="0" r="-6587" b="-47768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 rot="0">
              <a:off x="2230780" y="9497674"/>
              <a:ext cx="1601697" cy="38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Sucesso de jogos casuais</a:t>
              </a:r>
            </a:p>
          </p:txBody>
        </p:sp>
        <p:sp>
          <p:nvSpPr>
            <p:cNvPr name="TextBox 170" id="170"/>
            <p:cNvSpPr txBox="true"/>
            <p:nvPr/>
          </p:nvSpPr>
          <p:spPr>
            <a:xfrm rot="0">
              <a:off x="2118605" y="10715187"/>
              <a:ext cx="1865741" cy="1144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público de jogadores aumentou significativamente.</a:t>
              </a:r>
            </a:p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Jogos de corrida, ação e endless runners revolucionaram o mercado, oferecendo gráficos de ponta e mecânicas viciantes</a:t>
              </a:r>
            </a:p>
          </p:txBody>
        </p:sp>
        <p:grpSp>
          <p:nvGrpSpPr>
            <p:cNvPr name="Group 171" id="171"/>
            <p:cNvGrpSpPr/>
            <p:nvPr/>
          </p:nvGrpSpPr>
          <p:grpSpPr>
            <a:xfrm rot="0">
              <a:off x="4222446" y="9385301"/>
              <a:ext cx="2326938" cy="2639503"/>
              <a:chOff x="0" y="0"/>
              <a:chExt cx="876545" cy="994287"/>
            </a:xfrm>
          </p:grpSpPr>
          <p:sp>
            <p:nvSpPr>
              <p:cNvPr name="Freeform 172" id="172"/>
              <p:cNvSpPr/>
              <p:nvPr/>
            </p:nvSpPr>
            <p:spPr>
              <a:xfrm flipH="false" flipV="false" rot="0">
                <a:off x="0" y="0"/>
                <a:ext cx="876545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876545">
                    <a:moveTo>
                      <a:pt x="226242" y="0"/>
                    </a:moveTo>
                    <a:lnTo>
                      <a:pt x="650304" y="0"/>
                    </a:lnTo>
                    <a:cubicBezTo>
                      <a:pt x="710307" y="0"/>
                      <a:pt x="767852" y="23836"/>
                      <a:pt x="810281" y="66265"/>
                    </a:cubicBezTo>
                    <a:cubicBezTo>
                      <a:pt x="852709" y="108693"/>
                      <a:pt x="876545" y="166239"/>
                      <a:pt x="876545" y="226242"/>
                    </a:cubicBezTo>
                    <a:lnTo>
                      <a:pt x="876545" y="768046"/>
                    </a:lnTo>
                    <a:cubicBezTo>
                      <a:pt x="876545" y="892995"/>
                      <a:pt x="775254" y="994287"/>
                      <a:pt x="650304" y="994287"/>
                    </a:cubicBezTo>
                    <a:lnTo>
                      <a:pt x="226242" y="994287"/>
                    </a:lnTo>
                    <a:cubicBezTo>
                      <a:pt x="101292" y="994287"/>
                      <a:pt x="0" y="892995"/>
                      <a:pt x="0" y="768046"/>
                    </a:cubicBezTo>
                    <a:lnTo>
                      <a:pt x="0" y="226242"/>
                    </a:lnTo>
                    <a:cubicBezTo>
                      <a:pt x="0" y="166239"/>
                      <a:pt x="23836" y="108693"/>
                      <a:pt x="66265" y="66265"/>
                    </a:cubicBezTo>
                    <a:cubicBezTo>
                      <a:pt x="108693" y="23836"/>
                      <a:pt x="166239" y="0"/>
                      <a:pt x="226242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173" id="173"/>
              <p:cNvSpPr txBox="true"/>
              <p:nvPr/>
            </p:nvSpPr>
            <p:spPr>
              <a:xfrm>
                <a:off x="0" y="-38100"/>
                <a:ext cx="876545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74" id="174"/>
            <p:cNvSpPr/>
            <p:nvPr/>
          </p:nvSpPr>
          <p:spPr>
            <a:xfrm flipH="false" flipV="false" rot="0">
              <a:off x="4443894" y="9584173"/>
              <a:ext cx="1992029" cy="1120879"/>
            </a:xfrm>
            <a:custGeom>
              <a:avLst/>
              <a:gdLst/>
              <a:ahLst/>
              <a:cxnLst/>
              <a:rect r="r" b="b" t="t" l="l"/>
              <a:pathLst>
                <a:path h="1120879" w="1992029">
                  <a:moveTo>
                    <a:pt x="0" y="0"/>
                  </a:moveTo>
                  <a:lnTo>
                    <a:pt x="1992029" y="0"/>
                  </a:lnTo>
                  <a:lnTo>
                    <a:pt x="1992029" y="1120879"/>
                  </a:lnTo>
                  <a:lnTo>
                    <a:pt x="0" y="1120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 rot="0">
              <a:off x="4398148" y="9437384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PlayStation 4</a:t>
              </a:r>
            </a:p>
          </p:txBody>
        </p:sp>
        <p:sp>
          <p:nvSpPr>
            <p:cNvPr name="TextBox 176" id="176"/>
            <p:cNvSpPr txBox="true"/>
            <p:nvPr/>
          </p:nvSpPr>
          <p:spPr>
            <a:xfrm rot="0">
              <a:off x="4280020" y="10467213"/>
              <a:ext cx="2211791" cy="1472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PS4 destacou-se pela ênfase em jogos de alta qualidade, incluindo exclusivos como The Last of Us Part II, God of War e Bloodborne. Seu sucesso comercial e crítico reforçou a posição da Sony como líder do mercado de consoles e pavimentou o caminho para a transição ao PlayStation 5.</a:t>
              </a:r>
            </a:p>
          </p:txBody>
        </p:sp>
        <p:grpSp>
          <p:nvGrpSpPr>
            <p:cNvPr name="Group 177" id="177"/>
            <p:cNvGrpSpPr/>
            <p:nvPr/>
          </p:nvGrpSpPr>
          <p:grpSpPr>
            <a:xfrm rot="0">
              <a:off x="6633867" y="9385301"/>
              <a:ext cx="2447869" cy="2639503"/>
              <a:chOff x="0" y="0"/>
              <a:chExt cx="922100" cy="994287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0" y="0"/>
                <a:ext cx="922100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922100">
                    <a:moveTo>
                      <a:pt x="215065" y="0"/>
                    </a:moveTo>
                    <a:lnTo>
                      <a:pt x="707035" y="0"/>
                    </a:lnTo>
                    <a:cubicBezTo>
                      <a:pt x="825812" y="0"/>
                      <a:pt x="922100" y="96288"/>
                      <a:pt x="922100" y="215065"/>
                    </a:cubicBezTo>
                    <a:lnTo>
                      <a:pt x="922100" y="779222"/>
                    </a:lnTo>
                    <a:cubicBezTo>
                      <a:pt x="922100" y="898000"/>
                      <a:pt x="825812" y="994287"/>
                      <a:pt x="707035" y="994287"/>
                    </a:cubicBezTo>
                    <a:lnTo>
                      <a:pt x="215065" y="994287"/>
                    </a:lnTo>
                    <a:cubicBezTo>
                      <a:pt x="96288" y="994287"/>
                      <a:pt x="0" y="898000"/>
                      <a:pt x="0" y="779222"/>
                    </a:cubicBezTo>
                    <a:lnTo>
                      <a:pt x="0" y="215065"/>
                    </a:lnTo>
                    <a:cubicBezTo>
                      <a:pt x="0" y="96288"/>
                      <a:pt x="96288" y="0"/>
                      <a:pt x="215065" y="0"/>
                    </a:cubicBezTo>
                    <a:close/>
                  </a:path>
                </a:pathLst>
              </a:custGeom>
              <a:solidFill>
                <a:srgbClr val="006D11"/>
              </a:solidFill>
            </p:spPr>
          </p:sp>
          <p:sp>
            <p:nvSpPr>
              <p:cNvPr name="TextBox 179" id="179"/>
              <p:cNvSpPr txBox="true"/>
              <p:nvPr/>
            </p:nvSpPr>
            <p:spPr>
              <a:xfrm>
                <a:off x="0" y="-38100"/>
                <a:ext cx="922100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80" id="180"/>
            <p:cNvSpPr/>
            <p:nvPr/>
          </p:nvSpPr>
          <p:spPr>
            <a:xfrm flipH="false" flipV="false" rot="0">
              <a:off x="7288206" y="9783290"/>
              <a:ext cx="1164535" cy="952791"/>
            </a:xfrm>
            <a:custGeom>
              <a:avLst/>
              <a:gdLst/>
              <a:ahLst/>
              <a:cxnLst/>
              <a:rect r="r" b="b" t="t" l="l"/>
              <a:pathLst>
                <a:path h="952791" w="1164535">
                  <a:moveTo>
                    <a:pt x="0" y="0"/>
                  </a:moveTo>
                  <a:lnTo>
                    <a:pt x="1164536" y="0"/>
                  </a:lnTo>
                  <a:lnTo>
                    <a:pt x="1164536" y="952792"/>
                  </a:lnTo>
                  <a:lnTo>
                    <a:pt x="0" y="952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-6372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 rot="0">
              <a:off x="7102349" y="9220371"/>
              <a:ext cx="1536249" cy="78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</a:p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Xbox One</a:t>
              </a:r>
            </a:p>
            <a:p>
              <a:pPr algn="ctr">
                <a:lnSpc>
                  <a:spcPts val="1218"/>
                </a:lnSpc>
              </a:pPr>
            </a:p>
          </p:txBody>
        </p:sp>
        <p:sp>
          <p:nvSpPr>
            <p:cNvPr name="TextBox 182" id="182"/>
            <p:cNvSpPr txBox="true"/>
            <p:nvPr/>
          </p:nvSpPr>
          <p:spPr>
            <a:xfrm rot="0">
              <a:off x="6710778" y="10703324"/>
              <a:ext cx="2275327" cy="1144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Xbox One foi apresentado como uma plataforma “tudo em um”, focada na convergência entre jogos e entretenimento doméstico. Ele incorporava recursos de voz e gestos via Kinect 2.0, suporte a comandos de TV e multitarefa aprimorada.</a:t>
              </a:r>
            </a:p>
          </p:txBody>
        </p:sp>
        <p:grpSp>
          <p:nvGrpSpPr>
            <p:cNvPr name="Group 183" id="183"/>
            <p:cNvGrpSpPr/>
            <p:nvPr/>
          </p:nvGrpSpPr>
          <p:grpSpPr>
            <a:xfrm rot="0">
              <a:off x="9166218" y="9385301"/>
              <a:ext cx="2660919" cy="2639503"/>
              <a:chOff x="0" y="0"/>
              <a:chExt cx="1002355" cy="994287"/>
            </a:xfrm>
          </p:grpSpPr>
          <p:sp>
            <p:nvSpPr>
              <p:cNvPr name="Freeform 184" id="184"/>
              <p:cNvSpPr/>
              <p:nvPr/>
            </p:nvSpPr>
            <p:spPr>
              <a:xfrm flipH="false" flipV="false" rot="0">
                <a:off x="0" y="0"/>
                <a:ext cx="1002355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1002355">
                    <a:moveTo>
                      <a:pt x="197845" y="0"/>
                    </a:moveTo>
                    <a:lnTo>
                      <a:pt x="804509" y="0"/>
                    </a:lnTo>
                    <a:cubicBezTo>
                      <a:pt x="856981" y="0"/>
                      <a:pt x="907304" y="20844"/>
                      <a:pt x="944407" y="57948"/>
                    </a:cubicBezTo>
                    <a:cubicBezTo>
                      <a:pt x="981510" y="95051"/>
                      <a:pt x="1002355" y="145374"/>
                      <a:pt x="1002355" y="197845"/>
                    </a:cubicBezTo>
                    <a:lnTo>
                      <a:pt x="1002355" y="796442"/>
                    </a:lnTo>
                    <a:cubicBezTo>
                      <a:pt x="1002355" y="848914"/>
                      <a:pt x="981510" y="899237"/>
                      <a:pt x="944407" y="936340"/>
                    </a:cubicBezTo>
                    <a:cubicBezTo>
                      <a:pt x="907304" y="973443"/>
                      <a:pt x="856981" y="994287"/>
                      <a:pt x="804509" y="994287"/>
                    </a:cubicBezTo>
                    <a:lnTo>
                      <a:pt x="197845" y="994287"/>
                    </a:lnTo>
                    <a:cubicBezTo>
                      <a:pt x="145374" y="994287"/>
                      <a:pt x="95051" y="973443"/>
                      <a:pt x="57948" y="936340"/>
                    </a:cubicBezTo>
                    <a:cubicBezTo>
                      <a:pt x="20844" y="899237"/>
                      <a:pt x="0" y="848914"/>
                      <a:pt x="0" y="796442"/>
                    </a:cubicBezTo>
                    <a:lnTo>
                      <a:pt x="0" y="197845"/>
                    </a:lnTo>
                    <a:cubicBezTo>
                      <a:pt x="0" y="145374"/>
                      <a:pt x="20844" y="95051"/>
                      <a:pt x="57948" y="57948"/>
                    </a:cubicBezTo>
                    <a:cubicBezTo>
                      <a:pt x="95051" y="20844"/>
                      <a:pt x="145374" y="0"/>
                      <a:pt x="197845" y="0"/>
                    </a:cubicBez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name="TextBox 185" id="185"/>
              <p:cNvSpPr txBox="true"/>
              <p:nvPr/>
            </p:nvSpPr>
            <p:spPr>
              <a:xfrm>
                <a:off x="0" y="-38100"/>
                <a:ext cx="1002355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86" id="186"/>
            <p:cNvSpPr/>
            <p:nvPr/>
          </p:nvSpPr>
          <p:spPr>
            <a:xfrm flipH="false" flipV="false" rot="0">
              <a:off x="9828251" y="9821351"/>
              <a:ext cx="1323396" cy="744958"/>
            </a:xfrm>
            <a:custGeom>
              <a:avLst/>
              <a:gdLst/>
              <a:ahLst/>
              <a:cxnLst/>
              <a:rect r="r" b="b" t="t" l="l"/>
              <a:pathLst>
                <a:path h="744958" w="1323396">
                  <a:moveTo>
                    <a:pt x="0" y="0"/>
                  </a:moveTo>
                  <a:lnTo>
                    <a:pt x="1323396" y="0"/>
                  </a:lnTo>
                  <a:lnTo>
                    <a:pt x="1323396" y="744958"/>
                  </a:lnTo>
                  <a:lnTo>
                    <a:pt x="0" y="744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 rot="0">
              <a:off x="9721824" y="9438740"/>
              <a:ext cx="1536249" cy="38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de Pokémon GO</a:t>
              </a:r>
            </a:p>
          </p:txBody>
        </p:sp>
        <p:sp>
          <p:nvSpPr>
            <p:cNvPr name="TextBox 188" id="188"/>
            <p:cNvSpPr txBox="true"/>
            <p:nvPr/>
          </p:nvSpPr>
          <p:spPr>
            <a:xfrm rot="0">
              <a:off x="9208735" y="10613063"/>
              <a:ext cx="2562427" cy="1308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 auge de 2016, Pokémon GO provocou grandes aglomerações e aumentou o turismo urbano em diversos países. O jogo incentivou atividades ao ar livre e interações presenciais entre jogadores. Também gerou debates sobre segurança, privacidade e comportamento em espaços públicos.</a:t>
              </a:r>
            </a:p>
          </p:txBody>
        </p:sp>
        <p:grpSp>
          <p:nvGrpSpPr>
            <p:cNvPr name="Group 189" id="189"/>
            <p:cNvGrpSpPr/>
            <p:nvPr/>
          </p:nvGrpSpPr>
          <p:grpSpPr>
            <a:xfrm rot="0">
              <a:off x="11916037" y="9388178"/>
              <a:ext cx="1856899" cy="2602293"/>
              <a:chOff x="0" y="0"/>
              <a:chExt cx="777277" cy="1089291"/>
            </a:xfrm>
          </p:grpSpPr>
          <p:sp>
            <p:nvSpPr>
              <p:cNvPr name="Freeform 190" id="190"/>
              <p:cNvSpPr/>
              <p:nvPr/>
            </p:nvSpPr>
            <p:spPr>
              <a:xfrm flipH="false" flipV="false" rot="0">
                <a:off x="0" y="0"/>
                <a:ext cx="777277" cy="1089291"/>
              </a:xfrm>
              <a:custGeom>
                <a:avLst/>
                <a:gdLst/>
                <a:ahLst/>
                <a:cxnLst/>
                <a:rect r="r" b="b" t="t" l="l"/>
                <a:pathLst>
                  <a:path h="1089291" w="777277">
                    <a:moveTo>
                      <a:pt x="283511" y="0"/>
                    </a:moveTo>
                    <a:lnTo>
                      <a:pt x="493767" y="0"/>
                    </a:lnTo>
                    <a:cubicBezTo>
                      <a:pt x="650345" y="0"/>
                      <a:pt x="777277" y="126932"/>
                      <a:pt x="777277" y="283511"/>
                    </a:cubicBezTo>
                    <a:lnTo>
                      <a:pt x="777277" y="805780"/>
                    </a:lnTo>
                    <a:cubicBezTo>
                      <a:pt x="777277" y="962359"/>
                      <a:pt x="650345" y="1089291"/>
                      <a:pt x="493767" y="1089291"/>
                    </a:cubicBezTo>
                    <a:lnTo>
                      <a:pt x="283511" y="1089291"/>
                    </a:lnTo>
                    <a:cubicBezTo>
                      <a:pt x="126932" y="1089291"/>
                      <a:pt x="0" y="962359"/>
                      <a:pt x="0" y="805780"/>
                    </a:cubicBezTo>
                    <a:lnTo>
                      <a:pt x="0" y="283511"/>
                    </a:lnTo>
                    <a:cubicBezTo>
                      <a:pt x="0" y="126932"/>
                      <a:pt x="126932" y="0"/>
                      <a:pt x="283511" y="0"/>
                    </a:cubicBezTo>
                    <a:close/>
                  </a:path>
                </a:pathLst>
              </a:custGeom>
              <a:solidFill>
                <a:srgbClr val="027BF9"/>
              </a:solidFill>
            </p:spPr>
          </p:sp>
          <p:sp>
            <p:nvSpPr>
              <p:cNvPr name="TextBox 191" id="191"/>
              <p:cNvSpPr txBox="true"/>
              <p:nvPr/>
            </p:nvSpPr>
            <p:spPr>
              <a:xfrm>
                <a:off x="0" y="-38100"/>
                <a:ext cx="777277" cy="1127391"/>
              </a:xfrm>
              <a:prstGeom prst="rect">
                <a:avLst/>
              </a:prstGeom>
            </p:spPr>
            <p:txBody>
              <a:bodyPr anchor="ctr" rtlCol="false" tIns="23972" lIns="23972" bIns="23972" rIns="2397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92" id="192"/>
            <p:cNvSpPr/>
            <p:nvPr/>
          </p:nvSpPr>
          <p:spPr>
            <a:xfrm flipH="false" flipV="false" rot="0">
              <a:off x="11966248" y="9831018"/>
              <a:ext cx="1756478" cy="989761"/>
            </a:xfrm>
            <a:custGeom>
              <a:avLst/>
              <a:gdLst/>
              <a:ahLst/>
              <a:cxnLst/>
              <a:rect r="r" b="b" t="t" l="l"/>
              <a:pathLst>
                <a:path h="989761" w="1756478">
                  <a:moveTo>
                    <a:pt x="0" y="0"/>
                  </a:moveTo>
                  <a:lnTo>
                    <a:pt x="1756478" y="0"/>
                  </a:lnTo>
                  <a:lnTo>
                    <a:pt x="1756478" y="989761"/>
                  </a:lnTo>
                  <a:lnTo>
                    <a:pt x="0" y="989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 rot="0">
              <a:off x="12084253" y="9537222"/>
              <a:ext cx="1501795" cy="38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</a:t>
              </a:r>
              <a:r>
                <a:rPr lang="en-US" b="true" sz="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amento do Nintendo Switch</a:t>
              </a:r>
            </a:p>
          </p:txBody>
        </p:sp>
        <p:sp>
          <p:nvSpPr>
            <p:cNvPr name="TextBox 194" id="194"/>
            <p:cNvSpPr txBox="true"/>
            <p:nvPr/>
          </p:nvSpPr>
          <p:spPr>
            <a:xfrm rot="0">
              <a:off x="12011700" y="10760454"/>
              <a:ext cx="1711026" cy="879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6"/>
                </a:lnSpc>
              </a:pP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Ele 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combina modos d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 jogo portátil e doméstico, permitindo alternar entre jogabilidade na TV e no próprio dispositivo.</a:t>
              </a:r>
            </a:p>
          </p:txBody>
        </p:sp>
        <p:grpSp>
          <p:nvGrpSpPr>
            <p:cNvPr name="Group 195" id="195"/>
            <p:cNvGrpSpPr/>
            <p:nvPr/>
          </p:nvGrpSpPr>
          <p:grpSpPr>
            <a:xfrm rot="0">
              <a:off x="13912089" y="9401605"/>
              <a:ext cx="2530296" cy="2639503"/>
              <a:chOff x="0" y="0"/>
              <a:chExt cx="953150" cy="994287"/>
            </a:xfrm>
          </p:grpSpPr>
          <p:sp>
            <p:nvSpPr>
              <p:cNvPr name="Freeform 196" id="196"/>
              <p:cNvSpPr/>
              <p:nvPr/>
            </p:nvSpPr>
            <p:spPr>
              <a:xfrm flipH="false" flipV="false" rot="0">
                <a:off x="0" y="0"/>
                <a:ext cx="953150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953150">
                    <a:moveTo>
                      <a:pt x="208059" y="0"/>
                    </a:moveTo>
                    <a:lnTo>
                      <a:pt x="745091" y="0"/>
                    </a:lnTo>
                    <a:cubicBezTo>
                      <a:pt x="859998" y="0"/>
                      <a:pt x="953150" y="93151"/>
                      <a:pt x="953150" y="208059"/>
                    </a:cubicBezTo>
                    <a:lnTo>
                      <a:pt x="953150" y="786229"/>
                    </a:lnTo>
                    <a:cubicBezTo>
                      <a:pt x="953150" y="841409"/>
                      <a:pt x="931229" y="894330"/>
                      <a:pt x="892211" y="933348"/>
                    </a:cubicBezTo>
                    <a:cubicBezTo>
                      <a:pt x="853192" y="972367"/>
                      <a:pt x="800271" y="994287"/>
                      <a:pt x="745091" y="994287"/>
                    </a:cubicBezTo>
                    <a:lnTo>
                      <a:pt x="208059" y="994287"/>
                    </a:lnTo>
                    <a:cubicBezTo>
                      <a:pt x="93151" y="994287"/>
                      <a:pt x="0" y="901136"/>
                      <a:pt x="0" y="786229"/>
                    </a:cubicBezTo>
                    <a:lnTo>
                      <a:pt x="0" y="208059"/>
                    </a:lnTo>
                    <a:cubicBezTo>
                      <a:pt x="0" y="93151"/>
                      <a:pt x="93151" y="0"/>
                      <a:pt x="208059" y="0"/>
                    </a:cubicBezTo>
                    <a:close/>
                  </a:path>
                </a:pathLst>
              </a:custGeom>
              <a:solidFill>
                <a:srgbClr val="1800AD"/>
              </a:solidFill>
            </p:spPr>
          </p:sp>
          <p:sp>
            <p:nvSpPr>
              <p:cNvPr name="TextBox 197" id="197"/>
              <p:cNvSpPr txBox="true"/>
              <p:nvPr/>
            </p:nvSpPr>
            <p:spPr>
              <a:xfrm>
                <a:off x="0" y="-38100"/>
                <a:ext cx="953150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98" id="198"/>
            <p:cNvSpPr/>
            <p:nvPr/>
          </p:nvSpPr>
          <p:spPr>
            <a:xfrm flipH="false" flipV="false" rot="0">
              <a:off x="14430770" y="9832023"/>
              <a:ext cx="1492936" cy="836044"/>
            </a:xfrm>
            <a:custGeom>
              <a:avLst/>
              <a:gdLst/>
              <a:ahLst/>
              <a:cxnLst/>
              <a:rect r="r" b="b" t="t" l="l"/>
              <a:pathLst>
                <a:path h="836044" w="1492936">
                  <a:moveTo>
                    <a:pt x="0" y="0"/>
                  </a:moveTo>
                  <a:lnTo>
                    <a:pt x="1492935" y="0"/>
                  </a:lnTo>
                  <a:lnTo>
                    <a:pt x="1492935" y="836044"/>
                  </a:lnTo>
                  <a:lnTo>
                    <a:pt x="0" y="836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 rot="0">
              <a:off x="14154485" y="9467745"/>
              <a:ext cx="1950134" cy="387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PlayStation 5</a:t>
              </a:r>
            </a:p>
          </p:txBody>
        </p:sp>
        <p:sp>
          <p:nvSpPr>
            <p:cNvPr name="TextBox 200" id="200"/>
            <p:cNvSpPr txBox="true"/>
            <p:nvPr/>
          </p:nvSpPr>
          <p:spPr>
            <a:xfrm rot="0">
              <a:off x="14005585" y="10649017"/>
              <a:ext cx="2343305" cy="1308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Está disponível em duas versões: a edição padrão, com leitor de discos Ultra HD Blu-ray, e a edição digital, sem entrada física. O uso de SSD personalizado permite tempos de carregamento extremamente curtos e suporte a ray tracing, melhorando realismo visual e desempenho.</a:t>
              </a:r>
            </a:p>
          </p:txBody>
        </p:sp>
        <p:grpSp>
          <p:nvGrpSpPr>
            <p:cNvPr name="Group 201" id="201"/>
            <p:cNvGrpSpPr/>
            <p:nvPr/>
          </p:nvGrpSpPr>
          <p:grpSpPr>
            <a:xfrm rot="0">
              <a:off x="16503392" y="9430536"/>
              <a:ext cx="2258096" cy="2639503"/>
              <a:chOff x="0" y="0"/>
              <a:chExt cx="850613" cy="994287"/>
            </a:xfrm>
          </p:grpSpPr>
          <p:sp>
            <p:nvSpPr>
              <p:cNvPr name="Freeform 202" id="202"/>
              <p:cNvSpPr/>
              <p:nvPr/>
            </p:nvSpPr>
            <p:spPr>
              <a:xfrm flipH="false" flipV="false" rot="0">
                <a:off x="0" y="0"/>
                <a:ext cx="850613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850613">
                    <a:moveTo>
                      <a:pt x="233139" y="0"/>
                    </a:moveTo>
                    <a:lnTo>
                      <a:pt x="617474" y="0"/>
                    </a:lnTo>
                    <a:cubicBezTo>
                      <a:pt x="746233" y="0"/>
                      <a:pt x="850613" y="104380"/>
                      <a:pt x="850613" y="233139"/>
                    </a:cubicBezTo>
                    <a:lnTo>
                      <a:pt x="850613" y="761148"/>
                    </a:lnTo>
                    <a:cubicBezTo>
                      <a:pt x="850613" y="822981"/>
                      <a:pt x="826050" y="882280"/>
                      <a:pt x="782328" y="926002"/>
                    </a:cubicBezTo>
                    <a:cubicBezTo>
                      <a:pt x="738606" y="969725"/>
                      <a:pt x="679306" y="994287"/>
                      <a:pt x="617474" y="994287"/>
                    </a:cubicBezTo>
                    <a:lnTo>
                      <a:pt x="233139" y="994287"/>
                    </a:lnTo>
                    <a:cubicBezTo>
                      <a:pt x="104380" y="994287"/>
                      <a:pt x="0" y="889907"/>
                      <a:pt x="0" y="761148"/>
                    </a:cubicBezTo>
                    <a:lnTo>
                      <a:pt x="0" y="233139"/>
                    </a:lnTo>
                    <a:cubicBezTo>
                      <a:pt x="0" y="104380"/>
                      <a:pt x="104380" y="0"/>
                      <a:pt x="233139" y="0"/>
                    </a:cubicBezTo>
                    <a:close/>
                  </a:path>
                </a:pathLst>
              </a:custGeom>
              <a:solidFill>
                <a:srgbClr val="006D11"/>
              </a:solidFill>
            </p:spPr>
          </p:sp>
          <p:sp>
            <p:nvSpPr>
              <p:cNvPr name="TextBox 203" id="203"/>
              <p:cNvSpPr txBox="true"/>
              <p:nvPr/>
            </p:nvSpPr>
            <p:spPr>
              <a:xfrm>
                <a:off x="0" y="-38100"/>
                <a:ext cx="850613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204" id="204"/>
            <p:cNvSpPr/>
            <p:nvPr/>
          </p:nvSpPr>
          <p:spPr>
            <a:xfrm flipH="false" flipV="false" rot="0">
              <a:off x="16945718" y="9773158"/>
              <a:ext cx="1531483" cy="1060257"/>
            </a:xfrm>
            <a:custGeom>
              <a:avLst/>
              <a:gdLst/>
              <a:ahLst/>
              <a:cxnLst/>
              <a:rect r="r" b="b" t="t" l="l"/>
              <a:pathLst>
                <a:path h="1060257" w="1531483">
                  <a:moveTo>
                    <a:pt x="0" y="0"/>
                  </a:moveTo>
                  <a:lnTo>
                    <a:pt x="1531483" y="0"/>
                  </a:lnTo>
                  <a:lnTo>
                    <a:pt x="1531483" y="1060257"/>
                  </a:lnTo>
                  <a:lnTo>
                    <a:pt x="0" y="1060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 rot="0">
              <a:off x="16864315" y="9534228"/>
              <a:ext cx="1536249" cy="38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Lançamento do Xbox Series X</a:t>
              </a:r>
            </a:p>
          </p:txBody>
        </p:sp>
        <p:sp>
          <p:nvSpPr>
            <p:cNvPr name="TextBox 206" id="206"/>
            <p:cNvSpPr txBox="true"/>
            <p:nvPr/>
          </p:nvSpPr>
          <p:spPr>
            <a:xfrm rot="0">
              <a:off x="16595112" y="10702307"/>
              <a:ext cx="2074656" cy="1144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Considerado o mais poderoso da linha Xbox, destaca-se por desempenho gráfico em 4K, tempos de carregamento extremamente curtos e compatibilidade com milhares de jogos de gerações anteriores.</a:t>
              </a:r>
            </a:p>
          </p:txBody>
        </p:sp>
        <p:grpSp>
          <p:nvGrpSpPr>
            <p:cNvPr name="Group 207" id="207"/>
            <p:cNvGrpSpPr/>
            <p:nvPr/>
          </p:nvGrpSpPr>
          <p:grpSpPr>
            <a:xfrm rot="0">
              <a:off x="21151837" y="9430536"/>
              <a:ext cx="2741586" cy="2639503"/>
              <a:chOff x="0" y="0"/>
              <a:chExt cx="1032742" cy="994287"/>
            </a:xfrm>
          </p:grpSpPr>
          <p:sp>
            <p:nvSpPr>
              <p:cNvPr name="Freeform 208" id="208"/>
              <p:cNvSpPr/>
              <p:nvPr/>
            </p:nvSpPr>
            <p:spPr>
              <a:xfrm flipH="false" flipV="false" rot="0">
                <a:off x="0" y="0"/>
                <a:ext cx="1032742" cy="994287"/>
              </a:xfrm>
              <a:custGeom>
                <a:avLst/>
                <a:gdLst/>
                <a:ahLst/>
                <a:cxnLst/>
                <a:rect r="r" b="b" t="t" l="l"/>
                <a:pathLst>
                  <a:path h="994287" w="1032742">
                    <a:moveTo>
                      <a:pt x="192024" y="0"/>
                    </a:moveTo>
                    <a:lnTo>
                      <a:pt x="840717" y="0"/>
                    </a:lnTo>
                    <a:cubicBezTo>
                      <a:pt x="891645" y="0"/>
                      <a:pt x="940487" y="20231"/>
                      <a:pt x="976499" y="56243"/>
                    </a:cubicBezTo>
                    <a:cubicBezTo>
                      <a:pt x="1012510" y="92254"/>
                      <a:pt x="1032742" y="141096"/>
                      <a:pt x="1032742" y="192024"/>
                    </a:cubicBezTo>
                    <a:lnTo>
                      <a:pt x="1032742" y="802263"/>
                    </a:lnTo>
                    <a:cubicBezTo>
                      <a:pt x="1032742" y="853191"/>
                      <a:pt x="1012510" y="902033"/>
                      <a:pt x="976499" y="938045"/>
                    </a:cubicBezTo>
                    <a:cubicBezTo>
                      <a:pt x="940487" y="974056"/>
                      <a:pt x="891645" y="994287"/>
                      <a:pt x="840717" y="994287"/>
                    </a:cubicBezTo>
                    <a:lnTo>
                      <a:pt x="192024" y="994287"/>
                    </a:lnTo>
                    <a:cubicBezTo>
                      <a:pt x="141096" y="994287"/>
                      <a:pt x="92254" y="974056"/>
                      <a:pt x="56243" y="938045"/>
                    </a:cubicBezTo>
                    <a:cubicBezTo>
                      <a:pt x="20231" y="902033"/>
                      <a:pt x="0" y="853191"/>
                      <a:pt x="0" y="802263"/>
                    </a:cubicBezTo>
                    <a:lnTo>
                      <a:pt x="0" y="192024"/>
                    </a:lnTo>
                    <a:cubicBezTo>
                      <a:pt x="0" y="141096"/>
                      <a:pt x="20231" y="92254"/>
                      <a:pt x="56243" y="56243"/>
                    </a:cubicBezTo>
                    <a:cubicBezTo>
                      <a:pt x="92254" y="20231"/>
                      <a:pt x="141096" y="0"/>
                      <a:pt x="192024" y="0"/>
                    </a:cubicBez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name="TextBox 209" id="209"/>
              <p:cNvSpPr txBox="true"/>
              <p:nvPr/>
            </p:nvSpPr>
            <p:spPr>
              <a:xfrm>
                <a:off x="0" y="-38100"/>
                <a:ext cx="1032742" cy="1032387"/>
              </a:xfrm>
              <a:prstGeom prst="rect">
                <a:avLst/>
              </a:prstGeom>
            </p:spPr>
            <p:txBody>
              <a:bodyPr anchor="ctr" rtlCol="false" tIns="26638" lIns="26638" bIns="26638" rIns="2663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210" id="210"/>
            <p:cNvSpPr/>
            <p:nvPr/>
          </p:nvSpPr>
          <p:spPr>
            <a:xfrm flipH="false" flipV="false" rot="0">
              <a:off x="21830070" y="9957183"/>
              <a:ext cx="1338798" cy="753074"/>
            </a:xfrm>
            <a:custGeom>
              <a:avLst/>
              <a:gdLst/>
              <a:ahLst/>
              <a:cxnLst/>
              <a:rect r="r" b="b" t="t" l="l"/>
              <a:pathLst>
                <a:path h="753074" w="1338798">
                  <a:moveTo>
                    <a:pt x="0" y="0"/>
                  </a:moveTo>
                  <a:lnTo>
                    <a:pt x="1338798" y="0"/>
                  </a:lnTo>
                  <a:lnTo>
                    <a:pt x="1338798" y="753074"/>
                  </a:lnTo>
                  <a:lnTo>
                    <a:pt x="0" y="753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0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 rot="0">
              <a:off x="21351503" y="9538877"/>
              <a:ext cx="2295932" cy="38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Cresci</a:t>
              </a: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 da inteligência artificial e realidade virtual</a:t>
              </a:r>
            </a:p>
          </p:txBody>
        </p:sp>
        <p:sp>
          <p:nvSpPr>
            <p:cNvPr name="TextBox 212" id="212"/>
            <p:cNvSpPr txBox="true"/>
            <p:nvPr/>
          </p:nvSpPr>
          <p:spPr>
            <a:xfrm rot="0">
              <a:off x="21322307" y="10718672"/>
              <a:ext cx="2399112" cy="1308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8"/>
                </a:lnSpc>
              </a:pPr>
              <a:r>
                <a:rPr lang="en-US" sz="727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Elas transformaram a jogabilidade, substituindo a interação passiva por vivências imersivas nas quais os jogadores movem-se fisicamente no ambiente, interagem com personagens inteligentes e exploram mundos gerados de forma procedural e dinâmica</a:t>
              </a:r>
            </a:p>
          </p:txBody>
        </p:sp>
        <p:sp>
          <p:nvSpPr>
            <p:cNvPr name="TextBox 213" id="213"/>
            <p:cNvSpPr txBox="true"/>
            <p:nvPr/>
          </p:nvSpPr>
          <p:spPr>
            <a:xfrm rot="0">
              <a:off x="702227" y="4630645"/>
              <a:ext cx="982004" cy="23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1"/>
                </a:lnSpc>
              </a:pPr>
              <a:r>
                <a:rPr lang="en-US" b="true" sz="107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1958</a:t>
              </a:r>
            </a:p>
          </p:txBody>
        </p:sp>
        <p:sp>
          <p:nvSpPr>
            <p:cNvPr name="TextBox 214" id="214"/>
            <p:cNvSpPr txBox="true"/>
            <p:nvPr/>
          </p:nvSpPr>
          <p:spPr>
            <a:xfrm rot="0">
              <a:off x="2611736" y="4630645"/>
              <a:ext cx="982004" cy="23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1"/>
                </a:lnSpc>
              </a:pPr>
              <a:r>
                <a:rPr lang="en-US" b="true" sz="107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1962</a:t>
              </a:r>
            </a:p>
          </p:txBody>
        </p:sp>
        <p:sp>
          <p:nvSpPr>
            <p:cNvPr name="TextBox 215" id="215"/>
            <p:cNvSpPr txBox="true"/>
            <p:nvPr/>
          </p:nvSpPr>
          <p:spPr>
            <a:xfrm rot="0">
              <a:off x="4672432" y="4629871"/>
              <a:ext cx="985510" cy="236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7"/>
                </a:lnSpc>
              </a:pPr>
              <a:r>
                <a:rPr lang="en-US" b="true" sz="1076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1972</a:t>
              </a:r>
            </a:p>
          </p:txBody>
        </p:sp>
        <p:sp>
          <p:nvSpPr>
            <p:cNvPr name="TextBox 216" id="216"/>
            <p:cNvSpPr txBox="true"/>
            <p:nvPr/>
          </p:nvSpPr>
          <p:spPr>
            <a:xfrm rot="0">
              <a:off x="6740595" y="4629871"/>
              <a:ext cx="985510" cy="236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7"/>
                </a:lnSpc>
              </a:pPr>
              <a:r>
                <a:rPr lang="en-US" b="true" sz="1076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1977</a:t>
              </a:r>
            </a:p>
          </p:txBody>
        </p:sp>
        <p:sp>
          <p:nvSpPr>
            <p:cNvPr name="TextBox 217" id="217"/>
            <p:cNvSpPr txBox="true"/>
            <p:nvPr/>
          </p:nvSpPr>
          <p:spPr>
            <a:xfrm rot="0">
              <a:off x="8712616" y="4629871"/>
              <a:ext cx="907205" cy="219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7"/>
                </a:lnSpc>
              </a:pPr>
              <a:r>
                <a:rPr lang="en-US" b="true" sz="99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1978 - 1983</a:t>
              </a:r>
            </a:p>
          </p:txBody>
        </p:sp>
        <p:sp>
          <p:nvSpPr>
            <p:cNvPr name="TextBox 218" id="218"/>
            <p:cNvSpPr txBox="true"/>
            <p:nvPr/>
          </p:nvSpPr>
          <p:spPr>
            <a:xfrm rot="0">
              <a:off x="13859349" y="4640195"/>
              <a:ext cx="895442" cy="216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9"/>
                </a:lnSpc>
              </a:pPr>
              <a:r>
                <a:rPr lang="en-US" sz="97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1982</a:t>
              </a:r>
            </a:p>
          </p:txBody>
        </p:sp>
        <p:sp>
          <p:nvSpPr>
            <p:cNvPr name="TextBox 219" id="219"/>
            <p:cNvSpPr txBox="true"/>
            <p:nvPr/>
          </p:nvSpPr>
          <p:spPr>
            <a:xfrm rot="0">
              <a:off x="16090270" y="4629641"/>
              <a:ext cx="1220947" cy="21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8"/>
                </a:lnSpc>
              </a:pPr>
              <a:r>
                <a:rPr lang="en-US" sz="992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1983</a:t>
              </a:r>
            </a:p>
          </p:txBody>
        </p:sp>
        <p:sp>
          <p:nvSpPr>
            <p:cNvPr name="TextBox 220" id="220"/>
            <p:cNvSpPr txBox="true"/>
            <p:nvPr/>
          </p:nvSpPr>
          <p:spPr>
            <a:xfrm rot="0">
              <a:off x="22296217" y="4639073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1988</a:t>
              </a:r>
            </a:p>
          </p:txBody>
        </p:sp>
        <p:sp>
          <p:nvSpPr>
            <p:cNvPr name="TextBox 221" id="221"/>
            <p:cNvSpPr txBox="true"/>
            <p:nvPr/>
          </p:nvSpPr>
          <p:spPr>
            <a:xfrm rot="0">
              <a:off x="17404434" y="8793892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1996</a:t>
              </a:r>
            </a:p>
          </p:txBody>
        </p:sp>
        <p:sp>
          <p:nvSpPr>
            <p:cNvPr name="TextBox 222" id="222"/>
            <p:cNvSpPr txBox="true"/>
            <p:nvPr/>
          </p:nvSpPr>
          <p:spPr>
            <a:xfrm rot="0">
              <a:off x="5195662" y="0"/>
              <a:ext cx="18064263" cy="88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148"/>
                </a:lnSpc>
              </a:pPr>
              <a:r>
                <a:rPr lang="en-US" sz="4400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LINHA DO TEMPO DOS VIDEOGAMES</a:t>
              </a:r>
            </a:p>
          </p:txBody>
        </p:sp>
        <p:sp>
          <p:nvSpPr>
            <p:cNvPr name="TextBox 223" id="223"/>
            <p:cNvSpPr txBox="true"/>
            <p:nvPr/>
          </p:nvSpPr>
          <p:spPr>
            <a:xfrm rot="0">
              <a:off x="11174981" y="4635168"/>
              <a:ext cx="895442" cy="216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9"/>
                </a:lnSpc>
              </a:pPr>
              <a:r>
                <a:rPr lang="en-US" sz="97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1980</a:t>
              </a:r>
            </a:p>
          </p:txBody>
        </p:sp>
        <p:sp>
          <p:nvSpPr>
            <p:cNvPr name="TextBox 224" id="224"/>
            <p:cNvSpPr txBox="true"/>
            <p:nvPr/>
          </p:nvSpPr>
          <p:spPr>
            <a:xfrm rot="0">
              <a:off x="21610827" y="8813330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1989</a:t>
              </a:r>
            </a:p>
          </p:txBody>
        </p:sp>
        <p:sp>
          <p:nvSpPr>
            <p:cNvPr name="TextBox 225" id="225"/>
            <p:cNvSpPr txBox="true"/>
            <p:nvPr/>
          </p:nvSpPr>
          <p:spPr>
            <a:xfrm rot="0">
              <a:off x="19772895" y="8793892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1994</a:t>
              </a:r>
            </a:p>
          </p:txBody>
        </p:sp>
        <p:sp>
          <p:nvSpPr>
            <p:cNvPr name="TextBox 226" id="226"/>
            <p:cNvSpPr txBox="true"/>
            <p:nvPr/>
          </p:nvSpPr>
          <p:spPr>
            <a:xfrm rot="0">
              <a:off x="19046719" y="4630645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1985</a:t>
              </a:r>
            </a:p>
          </p:txBody>
        </p:sp>
        <p:sp>
          <p:nvSpPr>
            <p:cNvPr name="TextBox 227" id="227"/>
            <p:cNvSpPr txBox="true"/>
            <p:nvPr/>
          </p:nvSpPr>
          <p:spPr>
            <a:xfrm rot="0">
              <a:off x="14718175" y="8793892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1998</a:t>
              </a:r>
            </a:p>
          </p:txBody>
        </p:sp>
        <p:sp>
          <p:nvSpPr>
            <p:cNvPr name="TextBox 228" id="228"/>
            <p:cNvSpPr txBox="true"/>
            <p:nvPr/>
          </p:nvSpPr>
          <p:spPr>
            <a:xfrm rot="0">
              <a:off x="11990313" y="8793892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1999</a:t>
              </a:r>
            </a:p>
          </p:txBody>
        </p:sp>
        <p:sp>
          <p:nvSpPr>
            <p:cNvPr name="TextBox 229" id="229"/>
            <p:cNvSpPr txBox="true"/>
            <p:nvPr/>
          </p:nvSpPr>
          <p:spPr>
            <a:xfrm rot="0">
              <a:off x="9799962" y="8792815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2000</a:t>
              </a:r>
            </a:p>
          </p:txBody>
        </p:sp>
        <p:sp>
          <p:nvSpPr>
            <p:cNvPr name="TextBox 230" id="230"/>
            <p:cNvSpPr txBox="true"/>
            <p:nvPr/>
          </p:nvSpPr>
          <p:spPr>
            <a:xfrm rot="0">
              <a:off x="5103678" y="8792815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2004</a:t>
              </a:r>
            </a:p>
          </p:txBody>
        </p:sp>
        <p:sp>
          <p:nvSpPr>
            <p:cNvPr name="TextBox 231" id="231"/>
            <p:cNvSpPr txBox="true"/>
            <p:nvPr/>
          </p:nvSpPr>
          <p:spPr>
            <a:xfrm rot="0">
              <a:off x="7553000" y="8792815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2001</a:t>
              </a:r>
            </a:p>
          </p:txBody>
        </p:sp>
        <p:sp>
          <p:nvSpPr>
            <p:cNvPr name="TextBox 232" id="232"/>
            <p:cNvSpPr txBox="true"/>
            <p:nvPr/>
          </p:nvSpPr>
          <p:spPr>
            <a:xfrm rot="0">
              <a:off x="2741283" y="8813330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2006</a:t>
              </a:r>
            </a:p>
          </p:txBody>
        </p:sp>
        <p:sp>
          <p:nvSpPr>
            <p:cNvPr name="TextBox 233" id="233"/>
            <p:cNvSpPr txBox="true"/>
            <p:nvPr/>
          </p:nvSpPr>
          <p:spPr>
            <a:xfrm rot="0">
              <a:off x="720492" y="8813330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2007</a:t>
              </a:r>
            </a:p>
          </p:txBody>
        </p:sp>
        <p:sp>
          <p:nvSpPr>
            <p:cNvPr name="TextBox 234" id="234"/>
            <p:cNvSpPr txBox="true"/>
            <p:nvPr/>
          </p:nvSpPr>
          <p:spPr>
            <a:xfrm rot="0">
              <a:off x="17256771" y="12429186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2020</a:t>
              </a:r>
            </a:p>
          </p:txBody>
        </p:sp>
        <p:sp>
          <p:nvSpPr>
            <p:cNvPr name="TextBox 235" id="235"/>
            <p:cNvSpPr txBox="true"/>
            <p:nvPr/>
          </p:nvSpPr>
          <p:spPr>
            <a:xfrm rot="0">
              <a:off x="22066729" y="12448623"/>
              <a:ext cx="911803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2023 - Atual</a:t>
              </a:r>
            </a:p>
          </p:txBody>
        </p:sp>
        <p:sp>
          <p:nvSpPr>
            <p:cNvPr name="TextBox 236" id="236"/>
            <p:cNvSpPr txBox="true"/>
            <p:nvPr/>
          </p:nvSpPr>
          <p:spPr>
            <a:xfrm rot="0">
              <a:off x="19580039" y="12429186"/>
              <a:ext cx="978459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2020 - Atual</a:t>
              </a:r>
            </a:p>
          </p:txBody>
        </p:sp>
        <p:sp>
          <p:nvSpPr>
            <p:cNvPr name="TextBox 237" id="237"/>
            <p:cNvSpPr txBox="true"/>
            <p:nvPr/>
          </p:nvSpPr>
          <p:spPr>
            <a:xfrm rot="0">
              <a:off x="14718175" y="12429186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2020</a:t>
              </a:r>
            </a:p>
          </p:txBody>
        </p:sp>
        <p:sp>
          <p:nvSpPr>
            <p:cNvPr name="TextBox 238" id="238"/>
            <p:cNvSpPr txBox="true"/>
            <p:nvPr/>
          </p:nvSpPr>
          <p:spPr>
            <a:xfrm rot="0">
              <a:off x="12423774" y="12429186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2017</a:t>
              </a:r>
            </a:p>
          </p:txBody>
        </p:sp>
        <p:sp>
          <p:nvSpPr>
            <p:cNvPr name="TextBox 239" id="239"/>
            <p:cNvSpPr txBox="true"/>
            <p:nvPr/>
          </p:nvSpPr>
          <p:spPr>
            <a:xfrm rot="0">
              <a:off x="10078573" y="12428109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2016</a:t>
              </a:r>
            </a:p>
          </p:txBody>
        </p:sp>
        <p:sp>
          <p:nvSpPr>
            <p:cNvPr name="TextBox 240" id="240"/>
            <p:cNvSpPr txBox="true"/>
            <p:nvPr/>
          </p:nvSpPr>
          <p:spPr>
            <a:xfrm rot="0">
              <a:off x="4940049" y="12428109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2013</a:t>
              </a:r>
            </a:p>
          </p:txBody>
        </p:sp>
        <p:sp>
          <p:nvSpPr>
            <p:cNvPr name="TextBox 241" id="241"/>
            <p:cNvSpPr txBox="true"/>
            <p:nvPr/>
          </p:nvSpPr>
          <p:spPr>
            <a:xfrm rot="0">
              <a:off x="2691362" y="12448623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2012</a:t>
              </a:r>
            </a:p>
          </p:txBody>
        </p:sp>
        <p:sp>
          <p:nvSpPr>
            <p:cNvPr name="TextBox 242" id="242"/>
            <p:cNvSpPr txBox="true"/>
            <p:nvPr/>
          </p:nvSpPr>
          <p:spPr>
            <a:xfrm rot="0">
              <a:off x="693369" y="12448623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2007</a:t>
              </a:r>
            </a:p>
          </p:txBody>
        </p:sp>
        <p:sp>
          <p:nvSpPr>
            <p:cNvPr name="TextBox 243" id="243"/>
            <p:cNvSpPr txBox="true"/>
            <p:nvPr/>
          </p:nvSpPr>
          <p:spPr>
            <a:xfrm rot="0">
              <a:off x="7446425" y="12426982"/>
              <a:ext cx="822752" cy="20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8"/>
                </a:lnSpc>
              </a:pPr>
              <a:r>
                <a:rPr lang="en-US" sz="898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2013</a:t>
              </a:r>
            </a:p>
          </p:txBody>
        </p:sp>
        <p:grpSp>
          <p:nvGrpSpPr>
            <p:cNvPr name="Group 244" id="244"/>
            <p:cNvGrpSpPr/>
            <p:nvPr/>
          </p:nvGrpSpPr>
          <p:grpSpPr>
            <a:xfrm rot="0">
              <a:off x="18863088" y="9467747"/>
              <a:ext cx="2181497" cy="2602293"/>
              <a:chOff x="0" y="0"/>
              <a:chExt cx="913150" cy="1089291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913150" cy="1089291"/>
              </a:xfrm>
              <a:custGeom>
                <a:avLst/>
                <a:gdLst/>
                <a:ahLst/>
                <a:cxnLst/>
                <a:rect r="r" b="b" t="t" l="l"/>
                <a:pathLst>
                  <a:path h="1089291" w="913150">
                    <a:moveTo>
                      <a:pt x="241325" y="0"/>
                    </a:moveTo>
                    <a:lnTo>
                      <a:pt x="671825" y="0"/>
                    </a:lnTo>
                    <a:cubicBezTo>
                      <a:pt x="735828" y="0"/>
                      <a:pt x="797210" y="25425"/>
                      <a:pt x="842468" y="70683"/>
                    </a:cubicBezTo>
                    <a:cubicBezTo>
                      <a:pt x="887725" y="115940"/>
                      <a:pt x="913150" y="177322"/>
                      <a:pt x="913150" y="241325"/>
                    </a:cubicBezTo>
                    <a:lnTo>
                      <a:pt x="913150" y="847965"/>
                    </a:lnTo>
                    <a:cubicBezTo>
                      <a:pt x="913150" y="911969"/>
                      <a:pt x="887725" y="973351"/>
                      <a:pt x="842468" y="1018608"/>
                    </a:cubicBezTo>
                    <a:cubicBezTo>
                      <a:pt x="797210" y="1063865"/>
                      <a:pt x="735828" y="1089291"/>
                      <a:pt x="671825" y="1089291"/>
                    </a:cubicBezTo>
                    <a:lnTo>
                      <a:pt x="241325" y="1089291"/>
                    </a:lnTo>
                    <a:cubicBezTo>
                      <a:pt x="177322" y="1089291"/>
                      <a:pt x="115940" y="1063865"/>
                      <a:pt x="70683" y="1018608"/>
                    </a:cubicBezTo>
                    <a:cubicBezTo>
                      <a:pt x="25425" y="973351"/>
                      <a:pt x="0" y="911969"/>
                      <a:pt x="0" y="847965"/>
                    </a:cubicBezTo>
                    <a:lnTo>
                      <a:pt x="0" y="241325"/>
                    </a:lnTo>
                    <a:cubicBezTo>
                      <a:pt x="0" y="177322"/>
                      <a:pt x="25425" y="115940"/>
                      <a:pt x="70683" y="70683"/>
                    </a:cubicBezTo>
                    <a:cubicBezTo>
                      <a:pt x="115940" y="25425"/>
                      <a:pt x="177322" y="0"/>
                      <a:pt x="241325" y="0"/>
                    </a:cubicBezTo>
                    <a:close/>
                  </a:path>
                </a:pathLst>
              </a:custGeom>
              <a:solidFill>
                <a:srgbClr val="4910BC"/>
              </a:solidFill>
            </p:spPr>
          </p:sp>
          <p:sp>
            <p:nvSpPr>
              <p:cNvPr name="TextBox 246" id="246"/>
              <p:cNvSpPr txBox="true"/>
              <p:nvPr/>
            </p:nvSpPr>
            <p:spPr>
              <a:xfrm>
                <a:off x="0" y="-38100"/>
                <a:ext cx="913150" cy="1127391"/>
              </a:xfrm>
              <a:prstGeom prst="rect">
                <a:avLst/>
              </a:prstGeom>
            </p:spPr>
            <p:txBody>
              <a:bodyPr anchor="ctr" rtlCol="false" tIns="23972" lIns="23972" bIns="23972" rIns="23972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247" id="247"/>
            <p:cNvSpPr/>
            <p:nvPr/>
          </p:nvSpPr>
          <p:spPr>
            <a:xfrm flipH="false" flipV="false" rot="0">
              <a:off x="18984150" y="10004786"/>
              <a:ext cx="1933434" cy="807713"/>
            </a:xfrm>
            <a:custGeom>
              <a:avLst/>
              <a:gdLst/>
              <a:ahLst/>
              <a:cxnLst/>
              <a:rect r="r" b="b" t="t" l="l"/>
              <a:pathLst>
                <a:path h="807713" w="1933434">
                  <a:moveTo>
                    <a:pt x="0" y="0"/>
                  </a:moveTo>
                  <a:lnTo>
                    <a:pt x="1933435" y="0"/>
                  </a:lnTo>
                  <a:lnTo>
                    <a:pt x="1933435" y="807713"/>
                  </a:lnTo>
                  <a:lnTo>
                    <a:pt x="0" y="807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-2080" t="-20264" r="-2545" b="-22020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 rot="0">
              <a:off x="19240517" y="9576621"/>
              <a:ext cx="1501795" cy="38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</a:pPr>
              <a:r>
                <a:rPr lang="en-US" sz="87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Expansã</a:t>
              </a:r>
              <a:r>
                <a:rPr lang="en-US" b="true" sz="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do jogo em nuvem</a:t>
              </a:r>
            </a:p>
          </p:txBody>
        </p:sp>
        <p:sp>
          <p:nvSpPr>
            <p:cNvPr name="TextBox 249" id="249"/>
            <p:cNvSpPr txBox="true"/>
            <p:nvPr/>
          </p:nvSpPr>
          <p:spPr>
            <a:xfrm rot="0">
              <a:off x="19024698" y="10843617"/>
              <a:ext cx="1933434" cy="1044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96"/>
                </a:lnSpc>
              </a:pP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está transf</a:t>
              </a:r>
              <a:r>
                <a:rPr lang="en-US" sz="78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ormando o acesso aos gam</a:t>
              </a:r>
              <a:r>
                <a:rPr lang="en-US" b="true" sz="78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es, permitindo jogar lançamentos sem precisar de console ou PC potente, exigindo apenas internet rápida.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91699" y="2813307"/>
            <a:ext cx="6476700" cy="4553408"/>
          </a:xfrm>
          <a:custGeom>
            <a:avLst/>
            <a:gdLst/>
            <a:ahLst/>
            <a:cxnLst/>
            <a:rect r="r" b="b" t="t" l="l"/>
            <a:pathLst>
              <a:path h="4553408" w="6476700">
                <a:moveTo>
                  <a:pt x="0" y="0"/>
                </a:moveTo>
                <a:lnTo>
                  <a:pt x="6476700" y="0"/>
                </a:lnTo>
                <a:lnTo>
                  <a:pt x="6476700" y="4553408"/>
                </a:lnTo>
                <a:lnTo>
                  <a:pt x="0" y="4553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19" t="-6157" r="-14919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39220" y="786022"/>
            <a:ext cx="3086100" cy="1235182"/>
            <a:chOff x="0" y="0"/>
            <a:chExt cx="4114800" cy="16469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114800" cy="1646909"/>
              <a:chOff x="0" y="0"/>
              <a:chExt cx="812800" cy="32531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325315"/>
              </a:xfrm>
              <a:custGeom>
                <a:avLst/>
                <a:gdLst/>
                <a:ahLst/>
                <a:cxnLst/>
                <a:rect r="r" b="b" t="t" l="l"/>
                <a:pathLst>
                  <a:path h="325315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97375"/>
                    </a:lnTo>
                    <a:cubicBezTo>
                      <a:pt x="812800" y="231307"/>
                      <a:pt x="799321" y="263849"/>
                      <a:pt x="775327" y="287842"/>
                    </a:cubicBezTo>
                    <a:cubicBezTo>
                      <a:pt x="751333" y="311836"/>
                      <a:pt x="718791" y="325315"/>
                      <a:pt x="684859" y="325315"/>
                    </a:cubicBezTo>
                    <a:lnTo>
                      <a:pt x="127941" y="325315"/>
                    </a:lnTo>
                    <a:cubicBezTo>
                      <a:pt x="94009" y="325315"/>
                      <a:pt x="61467" y="311836"/>
                      <a:pt x="37473" y="287842"/>
                    </a:cubicBezTo>
                    <a:cubicBezTo>
                      <a:pt x="13479" y="263849"/>
                      <a:pt x="0" y="231307"/>
                      <a:pt x="0" y="1973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812800" cy="363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7559" y="374370"/>
              <a:ext cx="3647281" cy="1234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É O GÊNERO?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Ação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6170" y="3542907"/>
            <a:ext cx="5637990" cy="3030295"/>
            <a:chOff x="0" y="0"/>
            <a:chExt cx="7517320" cy="40403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519287" cy="3923156"/>
              <a:chOff x="0" y="0"/>
              <a:chExt cx="1287760" cy="7749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87760" cy="774944"/>
              </a:xfrm>
              <a:custGeom>
                <a:avLst/>
                <a:gdLst/>
                <a:ahLst/>
                <a:cxnLst/>
                <a:rect r="r" b="b" t="t" l="l"/>
                <a:pathLst>
                  <a:path h="774944" w="1287760">
                    <a:moveTo>
                      <a:pt x="80753" y="0"/>
                    </a:moveTo>
                    <a:lnTo>
                      <a:pt x="1207008" y="0"/>
                    </a:lnTo>
                    <a:cubicBezTo>
                      <a:pt x="1228425" y="0"/>
                      <a:pt x="1248964" y="8508"/>
                      <a:pt x="1264108" y="23652"/>
                    </a:cubicBezTo>
                    <a:cubicBezTo>
                      <a:pt x="1279253" y="38796"/>
                      <a:pt x="1287760" y="59336"/>
                      <a:pt x="1287760" y="80753"/>
                    </a:cubicBezTo>
                    <a:lnTo>
                      <a:pt x="1287760" y="694192"/>
                    </a:lnTo>
                    <a:cubicBezTo>
                      <a:pt x="1287760" y="738790"/>
                      <a:pt x="1251606" y="774944"/>
                      <a:pt x="1207008" y="774944"/>
                    </a:cubicBezTo>
                    <a:lnTo>
                      <a:pt x="80753" y="774944"/>
                    </a:lnTo>
                    <a:cubicBezTo>
                      <a:pt x="59336" y="774944"/>
                      <a:pt x="38796" y="766437"/>
                      <a:pt x="23652" y="751293"/>
                    </a:cubicBezTo>
                    <a:cubicBezTo>
                      <a:pt x="8508" y="736148"/>
                      <a:pt x="0" y="715609"/>
                      <a:pt x="0" y="694192"/>
                    </a:cubicBezTo>
                    <a:lnTo>
                      <a:pt x="0" y="80753"/>
                    </a:lnTo>
                    <a:cubicBezTo>
                      <a:pt x="0" y="59336"/>
                      <a:pt x="8508" y="38796"/>
                      <a:pt x="23652" y="23652"/>
                    </a:cubicBezTo>
                    <a:cubicBezTo>
                      <a:pt x="38796" y="8508"/>
                      <a:pt x="59336" y="0"/>
                      <a:pt x="8075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87760" cy="813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7613" y="291354"/>
              <a:ext cx="7449707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É O OBJETIVO PRINCIPAL DO JOGADOR?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Kratos e seu filho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Atreus saem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em uma jornada para cumprir o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último desejo de Faye, esposa de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Kratos e mãe de Atreus que é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espalhar as cinzas dela no ponto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mais alto dos reinos.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48118" y="7519830"/>
            <a:ext cx="4904467" cy="2992733"/>
            <a:chOff x="0" y="0"/>
            <a:chExt cx="6539290" cy="399031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294868" cy="3393938"/>
              <a:chOff x="0" y="0"/>
              <a:chExt cx="1243431" cy="67040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43431" cy="670407"/>
              </a:xfrm>
              <a:custGeom>
                <a:avLst/>
                <a:gdLst/>
                <a:ahLst/>
                <a:cxnLst/>
                <a:rect r="r" b="b" t="t" l="l"/>
                <a:pathLst>
                  <a:path h="670407" w="1243431">
                    <a:moveTo>
                      <a:pt x="83632" y="0"/>
                    </a:moveTo>
                    <a:lnTo>
                      <a:pt x="1159799" y="0"/>
                    </a:lnTo>
                    <a:cubicBezTo>
                      <a:pt x="1181980" y="0"/>
                      <a:pt x="1203252" y="8811"/>
                      <a:pt x="1218936" y="24495"/>
                    </a:cubicBezTo>
                    <a:cubicBezTo>
                      <a:pt x="1234620" y="40179"/>
                      <a:pt x="1243431" y="61451"/>
                      <a:pt x="1243431" y="83632"/>
                    </a:cubicBezTo>
                    <a:lnTo>
                      <a:pt x="1243431" y="586776"/>
                    </a:lnTo>
                    <a:cubicBezTo>
                      <a:pt x="1243431" y="608956"/>
                      <a:pt x="1234620" y="630228"/>
                      <a:pt x="1218936" y="645912"/>
                    </a:cubicBezTo>
                    <a:cubicBezTo>
                      <a:pt x="1203252" y="661596"/>
                      <a:pt x="1181980" y="670407"/>
                      <a:pt x="1159799" y="670407"/>
                    </a:cubicBezTo>
                    <a:lnTo>
                      <a:pt x="83632" y="670407"/>
                    </a:lnTo>
                    <a:cubicBezTo>
                      <a:pt x="61451" y="670407"/>
                      <a:pt x="40179" y="661596"/>
                      <a:pt x="24495" y="645912"/>
                    </a:cubicBezTo>
                    <a:cubicBezTo>
                      <a:pt x="8811" y="630228"/>
                      <a:pt x="0" y="608956"/>
                      <a:pt x="0" y="586776"/>
                    </a:cubicBezTo>
                    <a:lnTo>
                      <a:pt x="0" y="83632"/>
                    </a:lnTo>
                    <a:cubicBezTo>
                      <a:pt x="0" y="61451"/>
                      <a:pt x="8811" y="40179"/>
                      <a:pt x="24495" y="24495"/>
                    </a:cubicBezTo>
                    <a:cubicBezTo>
                      <a:pt x="40179" y="8811"/>
                      <a:pt x="61451" y="0"/>
                      <a:pt x="8363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243431" cy="7085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2397" y="241271"/>
              <a:ext cx="6406893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SÃO AS MECÂNICAS MAIS IMPORTANTES?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Combate corpo a corpo; 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Exploração;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Puzzles;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Bloqueio, esquiva e uso de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habilidades rúnicas.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99267" y="190780"/>
            <a:ext cx="5250138" cy="3599218"/>
            <a:chOff x="0" y="0"/>
            <a:chExt cx="7000184" cy="479895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000184" cy="3044005"/>
              <a:chOff x="0" y="0"/>
              <a:chExt cx="1382752" cy="6012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82752" cy="601285"/>
              </a:xfrm>
              <a:custGeom>
                <a:avLst/>
                <a:gdLst/>
                <a:ahLst/>
                <a:cxnLst/>
                <a:rect r="r" b="b" t="t" l="l"/>
                <a:pathLst>
                  <a:path h="601285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526080"/>
                    </a:lnTo>
                    <a:cubicBezTo>
                      <a:pt x="1382752" y="567614"/>
                      <a:pt x="1349082" y="601285"/>
                      <a:pt x="1307547" y="601285"/>
                    </a:cubicBezTo>
                    <a:lnTo>
                      <a:pt x="75205" y="601285"/>
                    </a:lnTo>
                    <a:cubicBezTo>
                      <a:pt x="55260" y="601285"/>
                      <a:pt x="36131" y="593362"/>
                      <a:pt x="22027" y="579258"/>
                    </a:cubicBezTo>
                    <a:cubicBezTo>
                      <a:pt x="7923" y="565154"/>
                      <a:pt x="0" y="546025"/>
                      <a:pt x="0" y="526080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382752" cy="6393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05437" y="211719"/>
              <a:ext cx="6700499" cy="4587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COMO</a:t>
              </a: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OCORRE A PROGRESSÃO DO JOGADOR?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O jogador evolui  adquirindo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novas  habilidades na árvore de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talentos, equipamentos e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melhorias para armas e armaduras.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64006" y="786022"/>
            <a:ext cx="4432613" cy="3349732"/>
            <a:chOff x="0" y="0"/>
            <a:chExt cx="5910150" cy="446630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910150" cy="3456475"/>
              <a:chOff x="0" y="0"/>
              <a:chExt cx="1167437" cy="68276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67437" cy="682761"/>
              </a:xfrm>
              <a:custGeom>
                <a:avLst/>
                <a:gdLst/>
                <a:ahLst/>
                <a:cxnLst/>
                <a:rect r="r" b="b" t="t" l="l"/>
                <a:pathLst>
                  <a:path h="682761" w="1167437">
                    <a:moveTo>
                      <a:pt x="89076" y="0"/>
                    </a:moveTo>
                    <a:lnTo>
                      <a:pt x="1078361" y="0"/>
                    </a:lnTo>
                    <a:cubicBezTo>
                      <a:pt x="1101986" y="0"/>
                      <a:pt x="1124642" y="9385"/>
                      <a:pt x="1141347" y="26090"/>
                    </a:cubicBezTo>
                    <a:cubicBezTo>
                      <a:pt x="1158052" y="42795"/>
                      <a:pt x="1167437" y="65451"/>
                      <a:pt x="1167437" y="89076"/>
                    </a:cubicBezTo>
                    <a:lnTo>
                      <a:pt x="1167437" y="593685"/>
                    </a:lnTo>
                    <a:cubicBezTo>
                      <a:pt x="1167437" y="642880"/>
                      <a:pt x="1127557" y="682761"/>
                      <a:pt x="1078361" y="682761"/>
                    </a:cubicBezTo>
                    <a:lnTo>
                      <a:pt x="89076" y="682761"/>
                    </a:lnTo>
                    <a:cubicBezTo>
                      <a:pt x="39881" y="682761"/>
                      <a:pt x="0" y="642880"/>
                      <a:pt x="0" y="593685"/>
                    </a:cubicBezTo>
                    <a:lnTo>
                      <a:pt x="0" y="89076"/>
                    </a:lnTo>
                    <a:cubicBezTo>
                      <a:pt x="0" y="39881"/>
                      <a:pt x="39881" y="0"/>
                      <a:pt x="8907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167437" cy="720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95604" y="298170"/>
              <a:ext cx="5318941" cy="4168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EXISTE NARRATIVA? COMO</a:t>
              </a: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ELA É APRESENTADA?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A história é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apresentada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através de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iálogos e cenas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 tempo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 que não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interrompem a imersão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do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jog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ador.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90651" y="4590219"/>
            <a:ext cx="4097349" cy="1597059"/>
            <a:chOff x="0" y="0"/>
            <a:chExt cx="5463131" cy="212941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41289" cy="1757305"/>
              <a:chOff x="0" y="0"/>
              <a:chExt cx="976057" cy="34712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6057" cy="347122"/>
              </a:xfrm>
              <a:custGeom>
                <a:avLst/>
                <a:gdLst/>
                <a:ahLst/>
                <a:cxnLst/>
                <a:rect r="r" b="b" t="t" l="l"/>
                <a:pathLst>
                  <a:path h="347122" w="976057">
                    <a:moveTo>
                      <a:pt x="106541" y="0"/>
                    </a:moveTo>
                    <a:lnTo>
                      <a:pt x="869516" y="0"/>
                    </a:lnTo>
                    <a:cubicBezTo>
                      <a:pt x="897773" y="0"/>
                      <a:pt x="924872" y="11225"/>
                      <a:pt x="944852" y="31205"/>
                    </a:cubicBezTo>
                    <a:cubicBezTo>
                      <a:pt x="964832" y="51186"/>
                      <a:pt x="976057" y="78285"/>
                      <a:pt x="976057" y="106541"/>
                    </a:cubicBezTo>
                    <a:lnTo>
                      <a:pt x="976057" y="240581"/>
                    </a:lnTo>
                    <a:cubicBezTo>
                      <a:pt x="976057" y="268837"/>
                      <a:pt x="964832" y="295936"/>
                      <a:pt x="944852" y="315917"/>
                    </a:cubicBezTo>
                    <a:cubicBezTo>
                      <a:pt x="924872" y="335897"/>
                      <a:pt x="897773" y="347122"/>
                      <a:pt x="869516" y="347122"/>
                    </a:cubicBezTo>
                    <a:lnTo>
                      <a:pt x="106541" y="347122"/>
                    </a:lnTo>
                    <a:cubicBezTo>
                      <a:pt x="47700" y="347122"/>
                      <a:pt x="0" y="299422"/>
                      <a:pt x="0" y="240581"/>
                    </a:cubicBezTo>
                    <a:lnTo>
                      <a:pt x="0" y="106541"/>
                    </a:lnTo>
                    <a:cubicBezTo>
                      <a:pt x="0" y="78285"/>
                      <a:pt x="11225" y="51186"/>
                      <a:pt x="31205" y="31205"/>
                    </a:cubicBezTo>
                    <a:cubicBezTo>
                      <a:pt x="51186" y="11225"/>
                      <a:pt x="78285" y="0"/>
                      <a:pt x="1065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976057" cy="385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68609" y="475873"/>
              <a:ext cx="5094523" cy="1653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PÚBLICO-ALVO?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Jovens e adultos   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74736" y="7519830"/>
            <a:ext cx="5621947" cy="3082447"/>
            <a:chOff x="0" y="0"/>
            <a:chExt cx="7495929" cy="410993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032244" cy="3201579"/>
              <a:chOff x="0" y="0"/>
              <a:chExt cx="1389085" cy="63241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89085" cy="632411"/>
              </a:xfrm>
              <a:custGeom>
                <a:avLst/>
                <a:gdLst/>
                <a:ahLst/>
                <a:cxnLst/>
                <a:rect r="r" b="b" t="t" l="l"/>
                <a:pathLst>
                  <a:path h="632411" w="1389085">
                    <a:moveTo>
                      <a:pt x="74862" y="0"/>
                    </a:moveTo>
                    <a:lnTo>
                      <a:pt x="1314223" y="0"/>
                    </a:lnTo>
                    <a:cubicBezTo>
                      <a:pt x="1355568" y="0"/>
                      <a:pt x="1389085" y="33517"/>
                      <a:pt x="1389085" y="74862"/>
                    </a:cubicBezTo>
                    <a:lnTo>
                      <a:pt x="1389085" y="557548"/>
                    </a:lnTo>
                    <a:cubicBezTo>
                      <a:pt x="1389085" y="598894"/>
                      <a:pt x="1355568" y="632411"/>
                      <a:pt x="1314223" y="632411"/>
                    </a:cubicBezTo>
                    <a:lnTo>
                      <a:pt x="74862" y="632411"/>
                    </a:lnTo>
                    <a:cubicBezTo>
                      <a:pt x="33517" y="632411"/>
                      <a:pt x="0" y="598894"/>
                      <a:pt x="0" y="557548"/>
                    </a:cubicBezTo>
                    <a:lnTo>
                      <a:pt x="0" y="74862"/>
                    </a:lnTo>
                    <a:cubicBezTo>
                      <a:pt x="0" y="33517"/>
                      <a:pt x="33517" y="0"/>
                      <a:pt x="7486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389085" cy="6705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9116" y="360891"/>
              <a:ext cx="7406813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OS PONTOS FORTES DO JOGO?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História emocionante;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Combate dinâmico;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Gráficos de alta qualidade;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Desenvolvimento dos  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personagens.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1021" y="2688743"/>
            <a:ext cx="7939073" cy="4631062"/>
          </a:xfrm>
          <a:custGeom>
            <a:avLst/>
            <a:gdLst/>
            <a:ahLst/>
            <a:cxnLst/>
            <a:rect r="r" b="b" t="t" l="l"/>
            <a:pathLst>
              <a:path h="4631062" w="7939073">
                <a:moveTo>
                  <a:pt x="0" y="0"/>
                </a:moveTo>
                <a:lnTo>
                  <a:pt x="7939073" y="0"/>
                </a:lnTo>
                <a:lnTo>
                  <a:pt x="7939073" y="4631062"/>
                </a:lnTo>
                <a:lnTo>
                  <a:pt x="0" y="4631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70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39220" y="786022"/>
            <a:ext cx="3086100" cy="1235182"/>
            <a:chOff x="0" y="0"/>
            <a:chExt cx="4114800" cy="16469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114800" cy="1646909"/>
              <a:chOff x="0" y="0"/>
              <a:chExt cx="812800" cy="32531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325315"/>
              </a:xfrm>
              <a:custGeom>
                <a:avLst/>
                <a:gdLst/>
                <a:ahLst/>
                <a:cxnLst/>
                <a:rect r="r" b="b" t="t" l="l"/>
                <a:pathLst>
                  <a:path h="325315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97375"/>
                    </a:lnTo>
                    <a:cubicBezTo>
                      <a:pt x="812800" y="231307"/>
                      <a:pt x="799321" y="263849"/>
                      <a:pt x="775327" y="287842"/>
                    </a:cubicBezTo>
                    <a:cubicBezTo>
                      <a:pt x="751333" y="311836"/>
                      <a:pt x="718791" y="325315"/>
                      <a:pt x="684859" y="325315"/>
                    </a:cubicBezTo>
                    <a:lnTo>
                      <a:pt x="127941" y="325315"/>
                    </a:lnTo>
                    <a:cubicBezTo>
                      <a:pt x="94009" y="325315"/>
                      <a:pt x="61467" y="311836"/>
                      <a:pt x="37473" y="287842"/>
                    </a:cubicBezTo>
                    <a:cubicBezTo>
                      <a:pt x="13479" y="263849"/>
                      <a:pt x="0" y="231307"/>
                      <a:pt x="0" y="1973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812800" cy="363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7559" y="374370"/>
              <a:ext cx="3647281" cy="1234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É O GÊNERO?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Ação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6170" y="3542907"/>
            <a:ext cx="5637990" cy="3030295"/>
            <a:chOff x="0" y="0"/>
            <a:chExt cx="7517320" cy="40403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519287" cy="3923156"/>
              <a:chOff x="0" y="0"/>
              <a:chExt cx="1287760" cy="7749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87760" cy="774944"/>
              </a:xfrm>
              <a:custGeom>
                <a:avLst/>
                <a:gdLst/>
                <a:ahLst/>
                <a:cxnLst/>
                <a:rect r="r" b="b" t="t" l="l"/>
                <a:pathLst>
                  <a:path h="774944" w="1287760">
                    <a:moveTo>
                      <a:pt x="80753" y="0"/>
                    </a:moveTo>
                    <a:lnTo>
                      <a:pt x="1207008" y="0"/>
                    </a:lnTo>
                    <a:cubicBezTo>
                      <a:pt x="1228425" y="0"/>
                      <a:pt x="1248964" y="8508"/>
                      <a:pt x="1264108" y="23652"/>
                    </a:cubicBezTo>
                    <a:cubicBezTo>
                      <a:pt x="1279253" y="38796"/>
                      <a:pt x="1287760" y="59336"/>
                      <a:pt x="1287760" y="80753"/>
                    </a:cubicBezTo>
                    <a:lnTo>
                      <a:pt x="1287760" y="694192"/>
                    </a:lnTo>
                    <a:cubicBezTo>
                      <a:pt x="1287760" y="738790"/>
                      <a:pt x="1251606" y="774944"/>
                      <a:pt x="1207008" y="774944"/>
                    </a:cubicBezTo>
                    <a:lnTo>
                      <a:pt x="80753" y="774944"/>
                    </a:lnTo>
                    <a:cubicBezTo>
                      <a:pt x="59336" y="774944"/>
                      <a:pt x="38796" y="766437"/>
                      <a:pt x="23652" y="751293"/>
                    </a:cubicBezTo>
                    <a:cubicBezTo>
                      <a:pt x="8508" y="736148"/>
                      <a:pt x="0" y="715609"/>
                      <a:pt x="0" y="694192"/>
                    </a:cubicBezTo>
                    <a:lnTo>
                      <a:pt x="0" y="80753"/>
                    </a:lnTo>
                    <a:cubicBezTo>
                      <a:pt x="0" y="59336"/>
                      <a:pt x="8508" y="38796"/>
                      <a:pt x="23652" y="23652"/>
                    </a:cubicBezTo>
                    <a:cubicBezTo>
                      <a:pt x="38796" y="8508"/>
                      <a:pt x="59336" y="0"/>
                      <a:pt x="8075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87760" cy="813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7613" y="291354"/>
              <a:ext cx="7449707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É O OBJETIVO PRINCIPAL DO JOGADOR?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Kratos e seu filho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Atreus saem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em uma jornada para cumprir o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último desejo de Faye, esposa de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Kratos e mãe de Atreus que é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espalhar as cinzas dela no ponto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mais alto dos reinos.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48118" y="7519830"/>
            <a:ext cx="4904467" cy="2992733"/>
            <a:chOff x="0" y="0"/>
            <a:chExt cx="6539290" cy="399031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294868" cy="3393938"/>
              <a:chOff x="0" y="0"/>
              <a:chExt cx="1243431" cy="67040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43431" cy="670407"/>
              </a:xfrm>
              <a:custGeom>
                <a:avLst/>
                <a:gdLst/>
                <a:ahLst/>
                <a:cxnLst/>
                <a:rect r="r" b="b" t="t" l="l"/>
                <a:pathLst>
                  <a:path h="670407" w="1243431">
                    <a:moveTo>
                      <a:pt x="83632" y="0"/>
                    </a:moveTo>
                    <a:lnTo>
                      <a:pt x="1159799" y="0"/>
                    </a:lnTo>
                    <a:cubicBezTo>
                      <a:pt x="1181980" y="0"/>
                      <a:pt x="1203252" y="8811"/>
                      <a:pt x="1218936" y="24495"/>
                    </a:cubicBezTo>
                    <a:cubicBezTo>
                      <a:pt x="1234620" y="40179"/>
                      <a:pt x="1243431" y="61451"/>
                      <a:pt x="1243431" y="83632"/>
                    </a:cubicBezTo>
                    <a:lnTo>
                      <a:pt x="1243431" y="586776"/>
                    </a:lnTo>
                    <a:cubicBezTo>
                      <a:pt x="1243431" y="608956"/>
                      <a:pt x="1234620" y="630228"/>
                      <a:pt x="1218936" y="645912"/>
                    </a:cubicBezTo>
                    <a:cubicBezTo>
                      <a:pt x="1203252" y="661596"/>
                      <a:pt x="1181980" y="670407"/>
                      <a:pt x="1159799" y="670407"/>
                    </a:cubicBezTo>
                    <a:lnTo>
                      <a:pt x="83632" y="670407"/>
                    </a:lnTo>
                    <a:cubicBezTo>
                      <a:pt x="61451" y="670407"/>
                      <a:pt x="40179" y="661596"/>
                      <a:pt x="24495" y="645912"/>
                    </a:cubicBezTo>
                    <a:cubicBezTo>
                      <a:pt x="8811" y="630228"/>
                      <a:pt x="0" y="608956"/>
                      <a:pt x="0" y="586776"/>
                    </a:cubicBezTo>
                    <a:lnTo>
                      <a:pt x="0" y="83632"/>
                    </a:lnTo>
                    <a:cubicBezTo>
                      <a:pt x="0" y="61451"/>
                      <a:pt x="8811" y="40179"/>
                      <a:pt x="24495" y="24495"/>
                    </a:cubicBezTo>
                    <a:cubicBezTo>
                      <a:pt x="40179" y="8811"/>
                      <a:pt x="61451" y="0"/>
                      <a:pt x="8363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243431" cy="7085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2397" y="241271"/>
              <a:ext cx="6406893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SÃO AS MECÂNICAS MAIS IMPORTANTES?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Combate corpo a corpo; 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Exploração;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Puzzles;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Bloqueio, esquiva e uso de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habilidades rúnicas.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99267" y="190780"/>
            <a:ext cx="5250138" cy="3599218"/>
            <a:chOff x="0" y="0"/>
            <a:chExt cx="7000184" cy="479895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000184" cy="3044005"/>
              <a:chOff x="0" y="0"/>
              <a:chExt cx="1382752" cy="6012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82752" cy="601285"/>
              </a:xfrm>
              <a:custGeom>
                <a:avLst/>
                <a:gdLst/>
                <a:ahLst/>
                <a:cxnLst/>
                <a:rect r="r" b="b" t="t" l="l"/>
                <a:pathLst>
                  <a:path h="601285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526080"/>
                    </a:lnTo>
                    <a:cubicBezTo>
                      <a:pt x="1382752" y="567614"/>
                      <a:pt x="1349082" y="601285"/>
                      <a:pt x="1307547" y="601285"/>
                    </a:cubicBezTo>
                    <a:lnTo>
                      <a:pt x="75205" y="601285"/>
                    </a:lnTo>
                    <a:cubicBezTo>
                      <a:pt x="55260" y="601285"/>
                      <a:pt x="36131" y="593362"/>
                      <a:pt x="22027" y="579258"/>
                    </a:cubicBezTo>
                    <a:cubicBezTo>
                      <a:pt x="7923" y="565154"/>
                      <a:pt x="0" y="546025"/>
                      <a:pt x="0" y="526080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382752" cy="6393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05437" y="211719"/>
              <a:ext cx="6700499" cy="4587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COMO</a:t>
              </a: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OCORRE A PROGRESSÃO DO JOGADOR?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O jogador evolui  adquirindo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novas  habilidades na árvore de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talentos, equipamentos e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melhorias para armas e armaduras.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64006" y="786022"/>
            <a:ext cx="4432613" cy="3349732"/>
            <a:chOff x="0" y="0"/>
            <a:chExt cx="5910150" cy="446630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910150" cy="3456475"/>
              <a:chOff x="0" y="0"/>
              <a:chExt cx="1167437" cy="68276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67437" cy="682761"/>
              </a:xfrm>
              <a:custGeom>
                <a:avLst/>
                <a:gdLst/>
                <a:ahLst/>
                <a:cxnLst/>
                <a:rect r="r" b="b" t="t" l="l"/>
                <a:pathLst>
                  <a:path h="682761" w="1167437">
                    <a:moveTo>
                      <a:pt x="89076" y="0"/>
                    </a:moveTo>
                    <a:lnTo>
                      <a:pt x="1078361" y="0"/>
                    </a:lnTo>
                    <a:cubicBezTo>
                      <a:pt x="1101986" y="0"/>
                      <a:pt x="1124642" y="9385"/>
                      <a:pt x="1141347" y="26090"/>
                    </a:cubicBezTo>
                    <a:cubicBezTo>
                      <a:pt x="1158052" y="42795"/>
                      <a:pt x="1167437" y="65451"/>
                      <a:pt x="1167437" y="89076"/>
                    </a:cubicBezTo>
                    <a:lnTo>
                      <a:pt x="1167437" y="593685"/>
                    </a:lnTo>
                    <a:cubicBezTo>
                      <a:pt x="1167437" y="642880"/>
                      <a:pt x="1127557" y="682761"/>
                      <a:pt x="1078361" y="682761"/>
                    </a:cubicBezTo>
                    <a:lnTo>
                      <a:pt x="89076" y="682761"/>
                    </a:lnTo>
                    <a:cubicBezTo>
                      <a:pt x="39881" y="682761"/>
                      <a:pt x="0" y="642880"/>
                      <a:pt x="0" y="593685"/>
                    </a:cubicBezTo>
                    <a:lnTo>
                      <a:pt x="0" y="89076"/>
                    </a:lnTo>
                    <a:cubicBezTo>
                      <a:pt x="0" y="39881"/>
                      <a:pt x="39881" y="0"/>
                      <a:pt x="8907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167437" cy="720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95604" y="298170"/>
              <a:ext cx="5318941" cy="4168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EXISTE NARRATIVA? COMO</a:t>
              </a: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ELA É APRESENTADA?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A história é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apresentada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através de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iálogos e cenas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 tempo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 que não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interrompem a imersão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do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jog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ador.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90651" y="4590219"/>
            <a:ext cx="4097349" cy="1597059"/>
            <a:chOff x="0" y="0"/>
            <a:chExt cx="5463131" cy="212941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41289" cy="1757305"/>
              <a:chOff x="0" y="0"/>
              <a:chExt cx="976057" cy="34712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6057" cy="347122"/>
              </a:xfrm>
              <a:custGeom>
                <a:avLst/>
                <a:gdLst/>
                <a:ahLst/>
                <a:cxnLst/>
                <a:rect r="r" b="b" t="t" l="l"/>
                <a:pathLst>
                  <a:path h="347122" w="976057">
                    <a:moveTo>
                      <a:pt x="106541" y="0"/>
                    </a:moveTo>
                    <a:lnTo>
                      <a:pt x="869516" y="0"/>
                    </a:lnTo>
                    <a:cubicBezTo>
                      <a:pt x="897773" y="0"/>
                      <a:pt x="924872" y="11225"/>
                      <a:pt x="944852" y="31205"/>
                    </a:cubicBezTo>
                    <a:cubicBezTo>
                      <a:pt x="964832" y="51186"/>
                      <a:pt x="976057" y="78285"/>
                      <a:pt x="976057" y="106541"/>
                    </a:cubicBezTo>
                    <a:lnTo>
                      <a:pt x="976057" y="240581"/>
                    </a:lnTo>
                    <a:cubicBezTo>
                      <a:pt x="976057" y="268837"/>
                      <a:pt x="964832" y="295936"/>
                      <a:pt x="944852" y="315917"/>
                    </a:cubicBezTo>
                    <a:cubicBezTo>
                      <a:pt x="924872" y="335897"/>
                      <a:pt x="897773" y="347122"/>
                      <a:pt x="869516" y="347122"/>
                    </a:cubicBezTo>
                    <a:lnTo>
                      <a:pt x="106541" y="347122"/>
                    </a:lnTo>
                    <a:cubicBezTo>
                      <a:pt x="47700" y="347122"/>
                      <a:pt x="0" y="299422"/>
                      <a:pt x="0" y="240581"/>
                    </a:cubicBezTo>
                    <a:lnTo>
                      <a:pt x="0" y="106541"/>
                    </a:lnTo>
                    <a:cubicBezTo>
                      <a:pt x="0" y="78285"/>
                      <a:pt x="11225" y="51186"/>
                      <a:pt x="31205" y="31205"/>
                    </a:cubicBezTo>
                    <a:cubicBezTo>
                      <a:pt x="51186" y="11225"/>
                      <a:pt x="78285" y="0"/>
                      <a:pt x="1065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976057" cy="385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68609" y="475873"/>
              <a:ext cx="5094523" cy="1653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PÚBLICO-ALVO?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Jovens e adultos   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74736" y="7519830"/>
            <a:ext cx="5621947" cy="3082447"/>
            <a:chOff x="0" y="0"/>
            <a:chExt cx="7495929" cy="410993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032244" cy="3201579"/>
              <a:chOff x="0" y="0"/>
              <a:chExt cx="1389085" cy="63241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89085" cy="632411"/>
              </a:xfrm>
              <a:custGeom>
                <a:avLst/>
                <a:gdLst/>
                <a:ahLst/>
                <a:cxnLst/>
                <a:rect r="r" b="b" t="t" l="l"/>
                <a:pathLst>
                  <a:path h="632411" w="1389085">
                    <a:moveTo>
                      <a:pt x="74862" y="0"/>
                    </a:moveTo>
                    <a:lnTo>
                      <a:pt x="1314223" y="0"/>
                    </a:lnTo>
                    <a:cubicBezTo>
                      <a:pt x="1355568" y="0"/>
                      <a:pt x="1389085" y="33517"/>
                      <a:pt x="1389085" y="74862"/>
                    </a:cubicBezTo>
                    <a:lnTo>
                      <a:pt x="1389085" y="557548"/>
                    </a:lnTo>
                    <a:cubicBezTo>
                      <a:pt x="1389085" y="598894"/>
                      <a:pt x="1355568" y="632411"/>
                      <a:pt x="1314223" y="632411"/>
                    </a:cubicBezTo>
                    <a:lnTo>
                      <a:pt x="74862" y="632411"/>
                    </a:lnTo>
                    <a:cubicBezTo>
                      <a:pt x="33517" y="632411"/>
                      <a:pt x="0" y="598894"/>
                      <a:pt x="0" y="557548"/>
                    </a:cubicBezTo>
                    <a:lnTo>
                      <a:pt x="0" y="74862"/>
                    </a:lnTo>
                    <a:cubicBezTo>
                      <a:pt x="0" y="33517"/>
                      <a:pt x="33517" y="0"/>
                      <a:pt x="7486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389085" cy="6705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9116" y="360891"/>
              <a:ext cx="7406813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OS PONTOS FORTES DO JOGO?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História emocionante;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Combate dinâmico;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Gráficos de alta qualidade;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Desenvolvimento dos  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personagens.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3631" y="2905478"/>
            <a:ext cx="7819955" cy="4398725"/>
          </a:xfrm>
          <a:custGeom>
            <a:avLst/>
            <a:gdLst/>
            <a:ahLst/>
            <a:cxnLst/>
            <a:rect r="r" b="b" t="t" l="l"/>
            <a:pathLst>
              <a:path h="4398725" w="7819955">
                <a:moveTo>
                  <a:pt x="0" y="0"/>
                </a:moveTo>
                <a:lnTo>
                  <a:pt x="7819955" y="0"/>
                </a:lnTo>
                <a:lnTo>
                  <a:pt x="7819955" y="4398725"/>
                </a:lnTo>
                <a:lnTo>
                  <a:pt x="0" y="4398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39220" y="786022"/>
            <a:ext cx="3086100" cy="1235182"/>
            <a:chOff x="0" y="0"/>
            <a:chExt cx="4114800" cy="16469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114800" cy="1646909"/>
              <a:chOff x="0" y="0"/>
              <a:chExt cx="812800" cy="32531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325315"/>
              </a:xfrm>
              <a:custGeom>
                <a:avLst/>
                <a:gdLst/>
                <a:ahLst/>
                <a:cxnLst/>
                <a:rect r="r" b="b" t="t" l="l"/>
                <a:pathLst>
                  <a:path h="325315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97375"/>
                    </a:lnTo>
                    <a:cubicBezTo>
                      <a:pt x="812800" y="231307"/>
                      <a:pt x="799321" y="263849"/>
                      <a:pt x="775327" y="287842"/>
                    </a:cubicBezTo>
                    <a:cubicBezTo>
                      <a:pt x="751333" y="311836"/>
                      <a:pt x="718791" y="325315"/>
                      <a:pt x="684859" y="325315"/>
                    </a:cubicBezTo>
                    <a:lnTo>
                      <a:pt x="127941" y="325315"/>
                    </a:lnTo>
                    <a:cubicBezTo>
                      <a:pt x="94009" y="325315"/>
                      <a:pt x="61467" y="311836"/>
                      <a:pt x="37473" y="287842"/>
                    </a:cubicBezTo>
                    <a:cubicBezTo>
                      <a:pt x="13479" y="263849"/>
                      <a:pt x="0" y="231307"/>
                      <a:pt x="0" y="1973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812800" cy="363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7559" y="374370"/>
              <a:ext cx="3647281" cy="1234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É O GÊNERO?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RPG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6170" y="3789998"/>
            <a:ext cx="4629150" cy="2401645"/>
            <a:chOff x="0" y="0"/>
            <a:chExt cx="6172200" cy="32021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172200" cy="3202193"/>
              <a:chOff x="0" y="0"/>
              <a:chExt cx="1219200" cy="63253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9200" cy="632532"/>
              </a:xfrm>
              <a:custGeom>
                <a:avLst/>
                <a:gdLst/>
                <a:ahLst/>
                <a:cxnLst/>
                <a:rect r="r" b="b" t="t" l="l"/>
                <a:pathLst>
                  <a:path h="632532" w="1219200">
                    <a:moveTo>
                      <a:pt x="85294" y="0"/>
                    </a:moveTo>
                    <a:lnTo>
                      <a:pt x="1133906" y="0"/>
                    </a:lnTo>
                    <a:cubicBezTo>
                      <a:pt x="1156527" y="0"/>
                      <a:pt x="1178222" y="8986"/>
                      <a:pt x="1194218" y="24982"/>
                    </a:cubicBezTo>
                    <a:cubicBezTo>
                      <a:pt x="1210214" y="40978"/>
                      <a:pt x="1219200" y="62673"/>
                      <a:pt x="1219200" y="85294"/>
                    </a:cubicBezTo>
                    <a:lnTo>
                      <a:pt x="1219200" y="547238"/>
                    </a:lnTo>
                    <a:cubicBezTo>
                      <a:pt x="1219200" y="569859"/>
                      <a:pt x="1210214" y="591554"/>
                      <a:pt x="1194218" y="607550"/>
                    </a:cubicBezTo>
                    <a:cubicBezTo>
                      <a:pt x="1178222" y="623546"/>
                      <a:pt x="1156527" y="632532"/>
                      <a:pt x="1133906" y="632532"/>
                    </a:cubicBezTo>
                    <a:lnTo>
                      <a:pt x="85294" y="632532"/>
                    </a:lnTo>
                    <a:cubicBezTo>
                      <a:pt x="62673" y="632532"/>
                      <a:pt x="40978" y="623546"/>
                      <a:pt x="24982" y="607550"/>
                    </a:cubicBezTo>
                    <a:cubicBezTo>
                      <a:pt x="8986" y="591554"/>
                      <a:pt x="0" y="569859"/>
                      <a:pt x="0" y="547238"/>
                    </a:cubicBezTo>
                    <a:lnTo>
                      <a:pt x="0" y="85294"/>
                    </a:lnTo>
                    <a:cubicBezTo>
                      <a:pt x="0" y="62673"/>
                      <a:pt x="8986" y="40978"/>
                      <a:pt x="24982" y="24982"/>
                    </a:cubicBezTo>
                    <a:cubicBezTo>
                      <a:pt x="40978" y="8986"/>
                      <a:pt x="62673" y="0"/>
                      <a:pt x="8529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19200" cy="670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7613" y="291354"/>
              <a:ext cx="5870828" cy="2910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É O OBJETIVO PRINCIPAL DO JOGADOR?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Controlar Geralt de Rívia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busca de Ciri, sua criança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surpresa, enquanto enfrenta  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monstros e conflitos políticos.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48118" y="7519830"/>
            <a:ext cx="4721151" cy="3307058"/>
            <a:chOff x="0" y="0"/>
            <a:chExt cx="6294868" cy="440941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294868" cy="3393938"/>
              <a:chOff x="0" y="0"/>
              <a:chExt cx="1243431" cy="67040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43431" cy="670407"/>
              </a:xfrm>
              <a:custGeom>
                <a:avLst/>
                <a:gdLst/>
                <a:ahLst/>
                <a:cxnLst/>
                <a:rect r="r" b="b" t="t" l="l"/>
                <a:pathLst>
                  <a:path h="670407" w="1243431">
                    <a:moveTo>
                      <a:pt x="83632" y="0"/>
                    </a:moveTo>
                    <a:lnTo>
                      <a:pt x="1159799" y="0"/>
                    </a:lnTo>
                    <a:cubicBezTo>
                      <a:pt x="1181980" y="0"/>
                      <a:pt x="1203252" y="8811"/>
                      <a:pt x="1218936" y="24495"/>
                    </a:cubicBezTo>
                    <a:cubicBezTo>
                      <a:pt x="1234620" y="40179"/>
                      <a:pt x="1243431" y="61451"/>
                      <a:pt x="1243431" y="83632"/>
                    </a:cubicBezTo>
                    <a:lnTo>
                      <a:pt x="1243431" y="586776"/>
                    </a:lnTo>
                    <a:cubicBezTo>
                      <a:pt x="1243431" y="608956"/>
                      <a:pt x="1234620" y="630228"/>
                      <a:pt x="1218936" y="645912"/>
                    </a:cubicBezTo>
                    <a:cubicBezTo>
                      <a:pt x="1203252" y="661596"/>
                      <a:pt x="1181980" y="670407"/>
                      <a:pt x="1159799" y="670407"/>
                    </a:cubicBezTo>
                    <a:lnTo>
                      <a:pt x="83632" y="670407"/>
                    </a:lnTo>
                    <a:cubicBezTo>
                      <a:pt x="61451" y="670407"/>
                      <a:pt x="40179" y="661596"/>
                      <a:pt x="24495" y="645912"/>
                    </a:cubicBezTo>
                    <a:cubicBezTo>
                      <a:pt x="8811" y="630228"/>
                      <a:pt x="0" y="608956"/>
                      <a:pt x="0" y="586776"/>
                    </a:cubicBezTo>
                    <a:lnTo>
                      <a:pt x="0" y="83632"/>
                    </a:lnTo>
                    <a:cubicBezTo>
                      <a:pt x="0" y="61451"/>
                      <a:pt x="8811" y="40179"/>
                      <a:pt x="24495" y="24495"/>
                    </a:cubicBezTo>
                    <a:cubicBezTo>
                      <a:pt x="40179" y="8811"/>
                      <a:pt x="61451" y="0"/>
                      <a:pt x="8363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243431" cy="7085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2397" y="241271"/>
              <a:ext cx="5990115" cy="4168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SÃO AS MECÂNICAS MAIS IMPORTANTES?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Exploração em mundo aberto;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Combate com espadas e magia;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Sistema de missões;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Escolhas que afetam a história;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Evolução de habilidades.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99267" y="190780"/>
            <a:ext cx="5250138" cy="3599218"/>
            <a:chOff x="0" y="0"/>
            <a:chExt cx="7000184" cy="479895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000184" cy="3044005"/>
              <a:chOff x="0" y="0"/>
              <a:chExt cx="1382752" cy="6012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82752" cy="601285"/>
              </a:xfrm>
              <a:custGeom>
                <a:avLst/>
                <a:gdLst/>
                <a:ahLst/>
                <a:cxnLst/>
                <a:rect r="r" b="b" t="t" l="l"/>
                <a:pathLst>
                  <a:path h="601285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526080"/>
                    </a:lnTo>
                    <a:cubicBezTo>
                      <a:pt x="1382752" y="567614"/>
                      <a:pt x="1349082" y="601285"/>
                      <a:pt x="1307547" y="601285"/>
                    </a:cubicBezTo>
                    <a:lnTo>
                      <a:pt x="75205" y="601285"/>
                    </a:lnTo>
                    <a:cubicBezTo>
                      <a:pt x="55260" y="601285"/>
                      <a:pt x="36131" y="593362"/>
                      <a:pt x="22027" y="579258"/>
                    </a:cubicBezTo>
                    <a:cubicBezTo>
                      <a:pt x="7923" y="565154"/>
                      <a:pt x="0" y="546025"/>
                      <a:pt x="0" y="526080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382752" cy="6393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05437" y="211719"/>
              <a:ext cx="6700499" cy="4587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COMO</a:t>
              </a: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OCORRE A PROGRESSÃO DO JOGADOR?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Baseada em ganho de experiência,      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subida de nível, aquisição de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novas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habilidades e descoberta de e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quipamentos lendários.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81584" y="786022"/>
            <a:ext cx="4615034" cy="3003976"/>
            <a:chOff x="0" y="0"/>
            <a:chExt cx="6153379" cy="400530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153379" cy="3456475"/>
              <a:chOff x="0" y="0"/>
              <a:chExt cx="1215482" cy="68276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15482" cy="682761"/>
              </a:xfrm>
              <a:custGeom>
                <a:avLst/>
                <a:gdLst/>
                <a:ahLst/>
                <a:cxnLst/>
                <a:rect r="r" b="b" t="t" l="l"/>
                <a:pathLst>
                  <a:path h="682761" w="1215482">
                    <a:moveTo>
                      <a:pt x="85555" y="0"/>
                    </a:moveTo>
                    <a:lnTo>
                      <a:pt x="1129928" y="0"/>
                    </a:lnTo>
                    <a:cubicBezTo>
                      <a:pt x="1177178" y="0"/>
                      <a:pt x="1215482" y="38304"/>
                      <a:pt x="1215482" y="85555"/>
                    </a:cubicBezTo>
                    <a:lnTo>
                      <a:pt x="1215482" y="597206"/>
                    </a:lnTo>
                    <a:cubicBezTo>
                      <a:pt x="1215482" y="644456"/>
                      <a:pt x="1177178" y="682761"/>
                      <a:pt x="1129928" y="682761"/>
                    </a:cubicBezTo>
                    <a:lnTo>
                      <a:pt x="85555" y="682761"/>
                    </a:lnTo>
                    <a:cubicBezTo>
                      <a:pt x="62864" y="682761"/>
                      <a:pt x="41103" y="673747"/>
                      <a:pt x="25058" y="657702"/>
                    </a:cubicBezTo>
                    <a:cubicBezTo>
                      <a:pt x="9014" y="641658"/>
                      <a:pt x="0" y="619896"/>
                      <a:pt x="0" y="597206"/>
                    </a:cubicBezTo>
                    <a:lnTo>
                      <a:pt x="0" y="85555"/>
                    </a:lnTo>
                    <a:cubicBezTo>
                      <a:pt x="0" y="62864"/>
                      <a:pt x="9014" y="41103"/>
                      <a:pt x="25058" y="25058"/>
                    </a:cubicBezTo>
                    <a:cubicBezTo>
                      <a:pt x="41103" y="9014"/>
                      <a:pt x="62864" y="0"/>
                      <a:pt x="8555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15482" cy="720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18617" y="256262"/>
              <a:ext cx="5614546" cy="3749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EXISTE NARRATIVA? COMO</a:t>
              </a: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ELA É APRESENTADA?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A narrativa é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ext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remamente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rica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e ramificada. As escolhas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do jogador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altera diretamente 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dest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ino de personagens e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regiõ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inteiras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do jog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90651" y="4590219"/>
            <a:ext cx="4097349" cy="1597059"/>
            <a:chOff x="0" y="0"/>
            <a:chExt cx="5463131" cy="212941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41289" cy="1757305"/>
              <a:chOff x="0" y="0"/>
              <a:chExt cx="976057" cy="34712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6057" cy="347122"/>
              </a:xfrm>
              <a:custGeom>
                <a:avLst/>
                <a:gdLst/>
                <a:ahLst/>
                <a:cxnLst/>
                <a:rect r="r" b="b" t="t" l="l"/>
                <a:pathLst>
                  <a:path h="347122" w="976057">
                    <a:moveTo>
                      <a:pt x="106541" y="0"/>
                    </a:moveTo>
                    <a:lnTo>
                      <a:pt x="869516" y="0"/>
                    </a:lnTo>
                    <a:cubicBezTo>
                      <a:pt x="897773" y="0"/>
                      <a:pt x="924872" y="11225"/>
                      <a:pt x="944852" y="31205"/>
                    </a:cubicBezTo>
                    <a:cubicBezTo>
                      <a:pt x="964832" y="51186"/>
                      <a:pt x="976057" y="78285"/>
                      <a:pt x="976057" y="106541"/>
                    </a:cubicBezTo>
                    <a:lnTo>
                      <a:pt x="976057" y="240581"/>
                    </a:lnTo>
                    <a:cubicBezTo>
                      <a:pt x="976057" y="268837"/>
                      <a:pt x="964832" y="295936"/>
                      <a:pt x="944852" y="315917"/>
                    </a:cubicBezTo>
                    <a:cubicBezTo>
                      <a:pt x="924872" y="335897"/>
                      <a:pt x="897773" y="347122"/>
                      <a:pt x="869516" y="347122"/>
                    </a:cubicBezTo>
                    <a:lnTo>
                      <a:pt x="106541" y="347122"/>
                    </a:lnTo>
                    <a:cubicBezTo>
                      <a:pt x="47700" y="347122"/>
                      <a:pt x="0" y="299422"/>
                      <a:pt x="0" y="240581"/>
                    </a:cubicBezTo>
                    <a:lnTo>
                      <a:pt x="0" y="106541"/>
                    </a:lnTo>
                    <a:cubicBezTo>
                      <a:pt x="0" y="78285"/>
                      <a:pt x="11225" y="51186"/>
                      <a:pt x="31205" y="31205"/>
                    </a:cubicBezTo>
                    <a:cubicBezTo>
                      <a:pt x="51186" y="11225"/>
                      <a:pt x="78285" y="0"/>
                      <a:pt x="1065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976057" cy="385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68609" y="475873"/>
              <a:ext cx="5094523" cy="1653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PÚBLICO-ALVO?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Jovens e adultos    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55607" y="7806705"/>
            <a:ext cx="5621947" cy="2768122"/>
            <a:chOff x="0" y="0"/>
            <a:chExt cx="7495929" cy="369083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032244" cy="2880980"/>
              <a:chOff x="0" y="0"/>
              <a:chExt cx="1389085" cy="56908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89085" cy="569083"/>
              </a:xfrm>
              <a:custGeom>
                <a:avLst/>
                <a:gdLst/>
                <a:ahLst/>
                <a:cxnLst/>
                <a:rect r="r" b="b" t="t" l="l"/>
                <a:pathLst>
                  <a:path h="569083" w="1389085">
                    <a:moveTo>
                      <a:pt x="74862" y="0"/>
                    </a:moveTo>
                    <a:lnTo>
                      <a:pt x="1314223" y="0"/>
                    </a:lnTo>
                    <a:cubicBezTo>
                      <a:pt x="1355568" y="0"/>
                      <a:pt x="1389085" y="33517"/>
                      <a:pt x="1389085" y="74862"/>
                    </a:cubicBezTo>
                    <a:lnTo>
                      <a:pt x="1389085" y="494220"/>
                    </a:lnTo>
                    <a:cubicBezTo>
                      <a:pt x="1389085" y="535566"/>
                      <a:pt x="1355568" y="569083"/>
                      <a:pt x="1314223" y="569083"/>
                    </a:cubicBezTo>
                    <a:lnTo>
                      <a:pt x="74862" y="569083"/>
                    </a:lnTo>
                    <a:cubicBezTo>
                      <a:pt x="33517" y="569083"/>
                      <a:pt x="0" y="535566"/>
                      <a:pt x="0" y="494220"/>
                    </a:cubicBezTo>
                    <a:lnTo>
                      <a:pt x="0" y="74862"/>
                    </a:lnTo>
                    <a:cubicBezTo>
                      <a:pt x="0" y="33517"/>
                      <a:pt x="33517" y="0"/>
                      <a:pt x="7486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389085" cy="6071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9116" y="360891"/>
              <a:ext cx="7406813" cy="3329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8" indent="-194314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180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OS PONTOS FORTES DO JOGO?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R: História envolvente;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Missões secundári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 significativas;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Mundo aberto detalhado;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P</a:t>
              </a:r>
              <a:r>
                <a:rPr lang="en-US" b="true" sz="1800" spc="5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ersonagens marcantes.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174784" y="0"/>
            <a:ext cx="3101530" cy="4114800"/>
          </a:xfrm>
          <a:custGeom>
            <a:avLst/>
            <a:gdLst/>
            <a:ahLst/>
            <a:cxnLst/>
            <a:rect r="r" b="b" t="t" l="l"/>
            <a:pathLst>
              <a:path h="4114800" w="3101530">
                <a:moveTo>
                  <a:pt x="3101530" y="0"/>
                </a:moveTo>
                <a:lnTo>
                  <a:pt x="0" y="0"/>
                </a:lnTo>
                <a:lnTo>
                  <a:pt x="0" y="4114800"/>
                </a:lnTo>
                <a:lnTo>
                  <a:pt x="3101530" y="4114800"/>
                </a:lnTo>
                <a:lnTo>
                  <a:pt x="3101530" y="0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65312" y="2254940"/>
            <a:ext cx="2809022" cy="1112327"/>
            <a:chOff x="0" y="0"/>
            <a:chExt cx="2357064" cy="9333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7064" cy="933360"/>
            </a:xfrm>
            <a:custGeom>
              <a:avLst/>
              <a:gdLst/>
              <a:ahLst/>
              <a:cxnLst/>
              <a:rect r="r" b="b" t="t" l="l"/>
              <a:pathLst>
                <a:path h="933360" w="2357064">
                  <a:moveTo>
                    <a:pt x="2232604" y="933359"/>
                  </a:moveTo>
                  <a:lnTo>
                    <a:pt x="124460" y="933359"/>
                  </a:lnTo>
                  <a:cubicBezTo>
                    <a:pt x="55880" y="933359"/>
                    <a:pt x="0" y="877479"/>
                    <a:pt x="0" y="8088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808899"/>
                  </a:lnTo>
                  <a:cubicBezTo>
                    <a:pt x="2357064" y="877479"/>
                    <a:pt x="2301184" y="933360"/>
                    <a:pt x="2232604" y="9333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33925" y="2254940"/>
            <a:ext cx="2809022" cy="1112327"/>
            <a:chOff x="0" y="0"/>
            <a:chExt cx="2357064" cy="9333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7064" cy="933360"/>
            </a:xfrm>
            <a:custGeom>
              <a:avLst/>
              <a:gdLst/>
              <a:ahLst/>
              <a:cxnLst/>
              <a:rect r="r" b="b" t="t" l="l"/>
              <a:pathLst>
                <a:path h="933360" w="2357064">
                  <a:moveTo>
                    <a:pt x="2232604" y="933359"/>
                  </a:moveTo>
                  <a:lnTo>
                    <a:pt x="124460" y="933359"/>
                  </a:lnTo>
                  <a:cubicBezTo>
                    <a:pt x="55880" y="933359"/>
                    <a:pt x="0" y="877479"/>
                    <a:pt x="0" y="8088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808899"/>
                  </a:lnTo>
                  <a:cubicBezTo>
                    <a:pt x="2357064" y="877479"/>
                    <a:pt x="2301184" y="933360"/>
                    <a:pt x="2232604" y="9333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02539" y="2254940"/>
            <a:ext cx="2809022" cy="1112327"/>
            <a:chOff x="0" y="0"/>
            <a:chExt cx="2357064" cy="933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7064" cy="933360"/>
            </a:xfrm>
            <a:custGeom>
              <a:avLst/>
              <a:gdLst/>
              <a:ahLst/>
              <a:cxnLst/>
              <a:rect r="r" b="b" t="t" l="l"/>
              <a:pathLst>
                <a:path h="933360" w="2357064">
                  <a:moveTo>
                    <a:pt x="2232604" y="933359"/>
                  </a:moveTo>
                  <a:lnTo>
                    <a:pt x="124460" y="933359"/>
                  </a:lnTo>
                  <a:cubicBezTo>
                    <a:pt x="55880" y="933359"/>
                    <a:pt x="0" y="877479"/>
                    <a:pt x="0" y="8088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808899"/>
                  </a:lnTo>
                  <a:cubicBezTo>
                    <a:pt x="2357064" y="877479"/>
                    <a:pt x="2301184" y="933360"/>
                    <a:pt x="2232604" y="9333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71152" y="2254940"/>
            <a:ext cx="2809022" cy="1112327"/>
            <a:chOff x="0" y="0"/>
            <a:chExt cx="2357064" cy="933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7064" cy="933360"/>
            </a:xfrm>
            <a:custGeom>
              <a:avLst/>
              <a:gdLst/>
              <a:ahLst/>
              <a:cxnLst/>
              <a:rect r="r" b="b" t="t" l="l"/>
              <a:pathLst>
                <a:path h="933360" w="2357064">
                  <a:moveTo>
                    <a:pt x="2232604" y="933359"/>
                  </a:moveTo>
                  <a:lnTo>
                    <a:pt x="124460" y="933359"/>
                  </a:lnTo>
                  <a:cubicBezTo>
                    <a:pt x="55880" y="933359"/>
                    <a:pt x="0" y="877479"/>
                    <a:pt x="0" y="8088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808899"/>
                  </a:lnTo>
                  <a:cubicBezTo>
                    <a:pt x="2357064" y="877479"/>
                    <a:pt x="2301184" y="933360"/>
                    <a:pt x="2232604" y="9333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65312" y="3507815"/>
            <a:ext cx="2809022" cy="1921314"/>
            <a:chOff x="0" y="0"/>
            <a:chExt cx="2357064" cy="16121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33925" y="3507815"/>
            <a:ext cx="2809022" cy="1921314"/>
            <a:chOff x="0" y="0"/>
            <a:chExt cx="2357064" cy="16121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02539" y="3507815"/>
            <a:ext cx="2809022" cy="1921314"/>
            <a:chOff x="0" y="0"/>
            <a:chExt cx="2357064" cy="16121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71152" y="3507815"/>
            <a:ext cx="2809022" cy="1921314"/>
            <a:chOff x="0" y="0"/>
            <a:chExt cx="2357064" cy="16121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865312" y="5585114"/>
            <a:ext cx="2809022" cy="1921314"/>
            <a:chOff x="0" y="0"/>
            <a:chExt cx="2357064" cy="16121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833925" y="5585114"/>
            <a:ext cx="2809022" cy="1921314"/>
            <a:chOff x="0" y="0"/>
            <a:chExt cx="2357064" cy="16121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802539" y="5585114"/>
            <a:ext cx="2809022" cy="1921314"/>
            <a:chOff x="0" y="0"/>
            <a:chExt cx="2357064" cy="16121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71152" y="5585114"/>
            <a:ext cx="2809022" cy="1921314"/>
            <a:chOff x="0" y="0"/>
            <a:chExt cx="2357064" cy="16121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865312" y="7668118"/>
            <a:ext cx="2809022" cy="1921314"/>
            <a:chOff x="0" y="0"/>
            <a:chExt cx="2357064" cy="16121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833925" y="7668118"/>
            <a:ext cx="2809022" cy="1921314"/>
            <a:chOff x="0" y="0"/>
            <a:chExt cx="2357064" cy="16121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02539" y="7668118"/>
            <a:ext cx="2809022" cy="1921314"/>
            <a:chOff x="0" y="0"/>
            <a:chExt cx="2357064" cy="16121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71152" y="7668118"/>
            <a:ext cx="2809022" cy="1921314"/>
            <a:chOff x="0" y="0"/>
            <a:chExt cx="2357064" cy="16121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886639" y="2268230"/>
            <a:ext cx="2809022" cy="1112327"/>
            <a:chOff x="0" y="0"/>
            <a:chExt cx="2357064" cy="9333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57064" cy="933360"/>
            </a:xfrm>
            <a:custGeom>
              <a:avLst/>
              <a:gdLst/>
              <a:ahLst/>
              <a:cxnLst/>
              <a:rect r="r" b="b" t="t" l="l"/>
              <a:pathLst>
                <a:path h="933360" w="2357064">
                  <a:moveTo>
                    <a:pt x="2232604" y="933359"/>
                  </a:moveTo>
                  <a:lnTo>
                    <a:pt x="124460" y="933359"/>
                  </a:lnTo>
                  <a:cubicBezTo>
                    <a:pt x="55880" y="933359"/>
                    <a:pt x="0" y="877479"/>
                    <a:pt x="0" y="8088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808899"/>
                  </a:lnTo>
                  <a:cubicBezTo>
                    <a:pt x="2357064" y="877479"/>
                    <a:pt x="2301184" y="933360"/>
                    <a:pt x="2232604" y="9333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886639" y="3521105"/>
            <a:ext cx="2809022" cy="1921314"/>
            <a:chOff x="0" y="0"/>
            <a:chExt cx="2357064" cy="16121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true" rot="0">
            <a:off x="0" y="6191688"/>
            <a:ext cx="3101530" cy="4114800"/>
          </a:xfrm>
          <a:custGeom>
            <a:avLst/>
            <a:gdLst/>
            <a:ahLst/>
            <a:cxnLst/>
            <a:rect r="r" b="b" t="t" l="l"/>
            <a:pathLst>
              <a:path h="4114800" w="3101530">
                <a:moveTo>
                  <a:pt x="0" y="4114800"/>
                </a:moveTo>
                <a:lnTo>
                  <a:pt x="3101530" y="4114800"/>
                </a:lnTo>
                <a:lnTo>
                  <a:pt x="31015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886639" y="5598404"/>
            <a:ext cx="2809022" cy="1921314"/>
            <a:chOff x="0" y="0"/>
            <a:chExt cx="2357064" cy="161218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886639" y="7681408"/>
            <a:ext cx="2809022" cy="1921314"/>
            <a:chOff x="0" y="0"/>
            <a:chExt cx="2357064" cy="16121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57064" cy="1612185"/>
            </a:xfrm>
            <a:custGeom>
              <a:avLst/>
              <a:gdLst/>
              <a:ahLst/>
              <a:cxnLst/>
              <a:rect r="r" b="b" t="t" l="l"/>
              <a:pathLst>
                <a:path h="1612185" w="2357064">
                  <a:moveTo>
                    <a:pt x="2232604" y="1612185"/>
                  </a:moveTo>
                  <a:lnTo>
                    <a:pt x="124460" y="1612185"/>
                  </a:lnTo>
                  <a:cubicBezTo>
                    <a:pt x="55880" y="1612185"/>
                    <a:pt x="0" y="1556305"/>
                    <a:pt x="0" y="148772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32604" y="0"/>
                  </a:lnTo>
                  <a:cubicBezTo>
                    <a:pt x="2301184" y="0"/>
                    <a:pt x="2357064" y="55880"/>
                    <a:pt x="2357064" y="124460"/>
                  </a:cubicBezTo>
                  <a:lnTo>
                    <a:pt x="2357064" y="1487725"/>
                  </a:lnTo>
                  <a:cubicBezTo>
                    <a:pt x="2357064" y="1556305"/>
                    <a:pt x="2301184" y="1612185"/>
                    <a:pt x="2232604" y="16121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662479" y="542971"/>
            <a:ext cx="1776572" cy="1711969"/>
          </a:xfrm>
          <a:custGeom>
            <a:avLst/>
            <a:gdLst/>
            <a:ahLst/>
            <a:cxnLst/>
            <a:rect r="r" b="b" t="t" l="l"/>
            <a:pathLst>
              <a:path h="1711969" w="1776572">
                <a:moveTo>
                  <a:pt x="0" y="0"/>
                </a:moveTo>
                <a:lnTo>
                  <a:pt x="1776572" y="0"/>
                </a:lnTo>
                <a:lnTo>
                  <a:pt x="1776572" y="1711969"/>
                </a:lnTo>
                <a:lnTo>
                  <a:pt x="0" y="1711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596693" y="1049388"/>
            <a:ext cx="1356505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TABELA COMPARATIVA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75989" y="2582303"/>
            <a:ext cx="2228396" cy="34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GÊNERO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44602" y="2232397"/>
            <a:ext cx="2228396" cy="104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</a:p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ECÂNICAS</a:t>
            </a:r>
          </a:p>
          <a:p>
            <a:pPr algn="ctr">
              <a:lnSpc>
                <a:spcPts val="2805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1113215" y="2232397"/>
            <a:ext cx="2228396" cy="104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</a:p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Público-</a:t>
            </a: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ALVO</a:t>
            </a:r>
          </a:p>
          <a:p>
            <a:pPr algn="ctr">
              <a:lnSpc>
                <a:spcPts val="2805"/>
              </a:lnSpc>
              <a:spcBef>
                <a:spcPct val="0"/>
              </a:spcBef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14081829" y="2232397"/>
            <a:ext cx="2228396" cy="104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</a:p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IFERENCIAIS</a:t>
            </a:r>
          </a:p>
          <a:p>
            <a:pPr algn="ctr">
              <a:lnSpc>
                <a:spcPts val="2805"/>
              </a:lnSpc>
              <a:spcBef>
                <a:spcPct val="0"/>
              </a:spcBef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5151116" y="4065939"/>
            <a:ext cx="2195062" cy="78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</a:p>
          <a:p>
            <a:pPr algn="ctr">
              <a:lnSpc>
                <a:spcPts val="3272"/>
              </a:lnSpc>
            </a:pPr>
            <a:r>
              <a:rPr lang="en-US" sz="233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FPS</a:t>
            </a:r>
          </a:p>
          <a:p>
            <a:pPr algn="l">
              <a:lnSpc>
                <a:spcPts val="1558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7982996" y="5698074"/>
            <a:ext cx="2551608" cy="171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614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Combate corpo a corpo com o Machado Leviatã, exploração, resolução de quebra-cabeças, evolução de habilidades e equipamentos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942050" y="7775822"/>
            <a:ext cx="2659951" cy="171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614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Exploração de mundo aberto, missões principais e secundárias, combate com espadas e magia, sistema de escolhas e consequências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97316" y="2595593"/>
            <a:ext cx="2228396" cy="34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NOME DO JOGO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49168" y="3550591"/>
            <a:ext cx="2228396" cy="182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2571" spc="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CALL OF DUTY: MODERN WARFARE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176952" y="6080224"/>
            <a:ext cx="2228396" cy="90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2571" spc="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GOD OF WAR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176952" y="7931775"/>
            <a:ext cx="2228396" cy="136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2571" spc="7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WITCHER 3: WILD HUNT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151116" y="6330597"/>
            <a:ext cx="2195062" cy="39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233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Ação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151116" y="8208397"/>
            <a:ext cx="2195062" cy="99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</a:p>
          <a:p>
            <a:pPr algn="ctr">
              <a:lnSpc>
                <a:spcPts val="3272"/>
              </a:lnSpc>
            </a:pPr>
            <a:r>
              <a:rPr lang="en-US" sz="233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RPG</a:t>
            </a:r>
          </a:p>
          <a:p>
            <a:pPr algn="ctr">
              <a:lnSpc>
                <a:spcPts val="3272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7942050" y="3310938"/>
            <a:ext cx="2792846" cy="22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</a:p>
          <a:p>
            <a:pPr algn="l">
              <a:lnSpc>
                <a:spcPts val="2259"/>
              </a:lnSpc>
            </a:pPr>
            <a:r>
              <a:rPr lang="en-US" sz="1614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Combate com armas de fogo, mira em primeira pessoa, modos multiplayer online, progressão de níveis, personalização de equipamentos</a:t>
            </a:r>
          </a:p>
          <a:p>
            <a:pPr algn="l">
              <a:lnSpc>
                <a:spcPts val="2259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13965925" y="3592011"/>
            <a:ext cx="2460203" cy="171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614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Grande foco no multiplayer competitivo, partidas dinâmicas, variedade de armas e modos de jogo, forte presença em eSports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919054" y="5565848"/>
            <a:ext cx="2782217" cy="192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59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História emocionante baseada na mitologia nórdica, relação entre Kratos e Atreus, câmera contínua sem cortes aparentes durante toda a campanha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943332" y="7669507"/>
            <a:ext cx="2782217" cy="192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59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Mundo aberto vasto e detalhado, grande liberdade de escolha, missões secundárias elaboradas e múltiplos finais influenciados pelas decisões do jogador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129882" y="4280866"/>
            <a:ext cx="2195062" cy="33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00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Jovens e adultos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129882" y="6330597"/>
            <a:ext cx="2195062" cy="33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00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Jovens e adultos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129882" y="8441170"/>
            <a:ext cx="2195062" cy="33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00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Jovens e adultos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479" y="329565"/>
            <a:ext cx="1356505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Programador de Jogos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4879" y="1276350"/>
            <a:ext cx="5008886" cy="2912175"/>
            <a:chOff x="0" y="0"/>
            <a:chExt cx="6678515" cy="38829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78515" cy="3882900"/>
              <a:chOff x="0" y="0"/>
              <a:chExt cx="1382752" cy="80393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82752" cy="803935"/>
              </a:xfrm>
              <a:custGeom>
                <a:avLst/>
                <a:gdLst/>
                <a:ahLst/>
                <a:cxnLst/>
                <a:rect r="r" b="b" t="t" l="l"/>
                <a:pathLst>
                  <a:path h="803935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728729"/>
                    </a:lnTo>
                    <a:cubicBezTo>
                      <a:pt x="1382752" y="748675"/>
                      <a:pt x="1374829" y="767804"/>
                      <a:pt x="1360725" y="781908"/>
                    </a:cubicBezTo>
                    <a:cubicBezTo>
                      <a:pt x="1346622" y="796011"/>
                      <a:pt x="1327493" y="803935"/>
                      <a:pt x="1307547" y="803935"/>
                    </a:cubicBezTo>
                    <a:lnTo>
                      <a:pt x="75205" y="803935"/>
                    </a:lnTo>
                    <a:cubicBezTo>
                      <a:pt x="55260" y="803935"/>
                      <a:pt x="36131" y="796011"/>
                      <a:pt x="22027" y="781908"/>
                    </a:cubicBezTo>
                    <a:cubicBezTo>
                      <a:pt x="7923" y="767804"/>
                      <a:pt x="0" y="748675"/>
                      <a:pt x="0" y="728729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382752" cy="842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0592" y="200239"/>
              <a:ext cx="6392600" cy="779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0770" indent="-185385" lvl="1">
                <a:lnSpc>
                  <a:spcPts val="2404"/>
                </a:lnSpc>
                <a:buFont typeface="Arial"/>
                <a:buChar char="•"/>
              </a:pPr>
              <a:r>
                <a:rPr lang="en-US" b="true" sz="1717" spc="51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QUAL A FUNÇÃO DO PROFISSIONAL?</a:t>
              </a:r>
            </a:p>
            <a:p>
              <a:pPr algn="l">
                <a:lnSpc>
                  <a:spcPts val="2404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21160" y="595234"/>
              <a:ext cx="6257354" cy="311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 programador de jogo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 é o "cérebro" por trás do projeto. Sua função principal é traduzir as ideias dos designers, artistas e roteiristas em linhas de código executáveis, transformando conceitos abstratos em um jogo funcional e interativo.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4879" y="4752241"/>
            <a:ext cx="5008886" cy="4905325"/>
            <a:chOff x="0" y="0"/>
            <a:chExt cx="6678515" cy="654043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78515" cy="6326327"/>
              <a:chOff x="0" y="0"/>
              <a:chExt cx="1382752" cy="130983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82752" cy="1309834"/>
              </a:xfrm>
              <a:custGeom>
                <a:avLst/>
                <a:gdLst/>
                <a:ahLst/>
                <a:cxnLst/>
                <a:rect r="r" b="b" t="t" l="l"/>
                <a:pathLst>
                  <a:path h="1309834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1234629"/>
                    </a:lnTo>
                    <a:cubicBezTo>
                      <a:pt x="1382752" y="1254574"/>
                      <a:pt x="1374829" y="1273703"/>
                      <a:pt x="1360725" y="1287807"/>
                    </a:cubicBezTo>
                    <a:cubicBezTo>
                      <a:pt x="1346622" y="1301910"/>
                      <a:pt x="1327493" y="1309834"/>
                      <a:pt x="1307547" y="1309834"/>
                    </a:cubicBezTo>
                    <a:lnTo>
                      <a:pt x="75205" y="1309834"/>
                    </a:lnTo>
                    <a:cubicBezTo>
                      <a:pt x="55260" y="1309834"/>
                      <a:pt x="36131" y="1301910"/>
                      <a:pt x="22027" y="1287807"/>
                    </a:cubicBezTo>
                    <a:cubicBezTo>
                      <a:pt x="7923" y="1273703"/>
                      <a:pt x="0" y="1254574"/>
                      <a:pt x="0" y="1234629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382752" cy="13479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0592" y="236588"/>
              <a:ext cx="6392600" cy="779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0770" indent="-185385" lvl="1">
                <a:lnSpc>
                  <a:spcPts val="2404"/>
                </a:lnSpc>
                <a:buFont typeface="Arial"/>
                <a:buChar char="•"/>
              </a:pPr>
              <a:r>
                <a:rPr lang="en-US" b="true" sz="1717" spc="51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QUAIS ATIVIDADES ELE EXECUTA?</a:t>
              </a:r>
            </a:p>
            <a:p>
              <a:pPr algn="l">
                <a:lnSpc>
                  <a:spcPts val="2404"/>
                </a:lnSpc>
                <a:spcBef>
                  <a:spcPct val="0"/>
                </a:spcBef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0580" y="738960"/>
              <a:ext cx="6257354" cy="5801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Escrever, testar e depurar (debug)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o código do jogo.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Implementar a física do jogo (gravidade, colisões, saltos).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Programar a inteligência artificial (IA) dos inimigos e NPCs.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Desenvolver a lógica dos menus, sistemas de inventário e interface do usuário (UI).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Otimizar o desempenho do jogo para que ele rode sem travamentos em diferentes plataformas.</a:t>
              </a:r>
            </a:p>
            <a:p>
              <a:pPr algn="l">
                <a:lnSpc>
                  <a:spcPts val="26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30261" y="1276350"/>
            <a:ext cx="5115902" cy="4948214"/>
            <a:chOff x="0" y="0"/>
            <a:chExt cx="6821203" cy="659761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821203" cy="6461491"/>
              <a:chOff x="0" y="0"/>
              <a:chExt cx="1382752" cy="130983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82752" cy="1309834"/>
              </a:xfrm>
              <a:custGeom>
                <a:avLst/>
                <a:gdLst/>
                <a:ahLst/>
                <a:cxnLst/>
                <a:rect r="r" b="b" t="t" l="l"/>
                <a:pathLst>
                  <a:path h="1309834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1234629"/>
                    </a:lnTo>
                    <a:cubicBezTo>
                      <a:pt x="1382752" y="1254574"/>
                      <a:pt x="1374829" y="1273703"/>
                      <a:pt x="1360725" y="1287807"/>
                    </a:cubicBezTo>
                    <a:cubicBezTo>
                      <a:pt x="1346622" y="1301910"/>
                      <a:pt x="1327493" y="1309834"/>
                      <a:pt x="1307547" y="1309834"/>
                    </a:cubicBezTo>
                    <a:lnTo>
                      <a:pt x="75205" y="1309834"/>
                    </a:lnTo>
                    <a:cubicBezTo>
                      <a:pt x="55260" y="1309834"/>
                      <a:pt x="36131" y="1301910"/>
                      <a:pt x="22027" y="1287807"/>
                    </a:cubicBezTo>
                    <a:cubicBezTo>
                      <a:pt x="7923" y="1273703"/>
                      <a:pt x="0" y="1254574"/>
                      <a:pt x="0" y="1234629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382752" cy="13479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02742" y="242457"/>
              <a:ext cx="6529180" cy="1203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8692" indent="-189346" lvl="1">
                <a:lnSpc>
                  <a:spcPts val="2455"/>
                </a:lnSpc>
                <a:buFont typeface="Arial"/>
                <a:buChar char="•"/>
              </a:pPr>
              <a:r>
                <a:rPr lang="en-US" b="true" sz="1754" spc="52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CONHECIMENTOS TÉCNICOS SÃO NECESSÁRIOS?</a:t>
              </a:r>
            </a:p>
            <a:p>
              <a:pPr algn="l">
                <a:lnSpc>
                  <a:spcPts val="2455"/>
                </a:lnSpc>
                <a:spcBef>
                  <a:spcPct val="0"/>
                </a:spcBef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1809" y="1121370"/>
              <a:ext cx="6391044" cy="547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Linguagens de Programaçã</a:t>
              </a: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o:</a:t>
              </a:r>
              <a:r>
                <a:rPr lang="en-US" sz="194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Domínio de linguagens como C++, C# (as mais comuns), Java, Python ou Blueprints (programação visual).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Matemática e Física:</a:t>
              </a:r>
              <a:r>
                <a:rPr lang="en-US" sz="194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Álgebra linear, vetores, matrizes e trigonometria são essenciais para movimentação e renderização em 3D.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</a:t>
              </a: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trutura de Dados e Algoritmos:</a:t>
              </a:r>
              <a:r>
                <a:rPr lang="en-US" sz="194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Para criar códigos eficientes e rápidos.</a:t>
              </a:r>
            </a:p>
            <a:p>
              <a:pPr algn="l">
                <a:lnSpc>
                  <a:spcPts val="272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30261" y="6526408"/>
            <a:ext cx="5115902" cy="3667692"/>
            <a:chOff x="0" y="0"/>
            <a:chExt cx="6821203" cy="489025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780766" cy="4713883"/>
              <a:chOff x="0" y="0"/>
              <a:chExt cx="1382752" cy="96126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82752" cy="961268"/>
              </a:xfrm>
              <a:custGeom>
                <a:avLst/>
                <a:gdLst/>
                <a:ahLst/>
                <a:cxnLst/>
                <a:rect r="r" b="b" t="t" l="l"/>
                <a:pathLst>
                  <a:path h="961268" w="1382752">
                    <a:moveTo>
                      <a:pt x="75205" y="0"/>
                    </a:moveTo>
                    <a:lnTo>
                      <a:pt x="1307547" y="0"/>
                    </a:lnTo>
                    <a:cubicBezTo>
                      <a:pt x="1327493" y="0"/>
                      <a:pt x="1346622" y="7923"/>
                      <a:pt x="1360725" y="22027"/>
                    </a:cubicBezTo>
                    <a:cubicBezTo>
                      <a:pt x="1374829" y="36131"/>
                      <a:pt x="1382752" y="55260"/>
                      <a:pt x="1382752" y="75205"/>
                    </a:cubicBezTo>
                    <a:lnTo>
                      <a:pt x="1382752" y="886063"/>
                    </a:lnTo>
                    <a:cubicBezTo>
                      <a:pt x="1382752" y="906008"/>
                      <a:pt x="1374829" y="925137"/>
                      <a:pt x="1360725" y="939241"/>
                    </a:cubicBezTo>
                    <a:cubicBezTo>
                      <a:pt x="1346622" y="953344"/>
                      <a:pt x="1327493" y="961268"/>
                      <a:pt x="1307547" y="961268"/>
                    </a:cubicBezTo>
                    <a:lnTo>
                      <a:pt x="75205" y="961268"/>
                    </a:lnTo>
                    <a:cubicBezTo>
                      <a:pt x="55260" y="961268"/>
                      <a:pt x="36131" y="953344"/>
                      <a:pt x="22027" y="939241"/>
                    </a:cubicBezTo>
                    <a:cubicBezTo>
                      <a:pt x="7923" y="925137"/>
                      <a:pt x="0" y="906008"/>
                      <a:pt x="0" y="886063"/>
                    </a:cubicBezTo>
                    <a:lnTo>
                      <a:pt x="0" y="75205"/>
                    </a:lnTo>
                    <a:cubicBezTo>
                      <a:pt x="0" y="55260"/>
                      <a:pt x="7923" y="36131"/>
                      <a:pt x="22027" y="22027"/>
                    </a:cubicBezTo>
                    <a:cubicBezTo>
                      <a:pt x="36131" y="7923"/>
                      <a:pt x="55260" y="0"/>
                      <a:pt x="7520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82752" cy="9993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79475" y="270208"/>
              <a:ext cx="6421816" cy="1196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6447" indent="-188223" lvl="1">
                <a:lnSpc>
                  <a:spcPts val="2441"/>
                </a:lnSpc>
                <a:buFont typeface="Arial"/>
                <a:buChar char="•"/>
              </a:pPr>
              <a:r>
                <a:rPr lang="en-US" b="true" sz="1743" spc="52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FERRAMENTAS O PROFISSIONAL UTILIZA</a:t>
              </a:r>
            </a:p>
            <a:p>
              <a:pPr algn="l">
                <a:lnSpc>
                  <a:spcPts val="2441"/>
                </a:lnSpc>
                <a:spcBef>
                  <a:spcPct val="0"/>
                </a:spcBef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11228" y="1266873"/>
              <a:ext cx="6609975" cy="3623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Motores de Jog</a:t>
              </a: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(Game Engines): </a:t>
              </a:r>
              <a:r>
                <a:rPr lang="en-US" sz="193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Unity, Unreal Engine, Godot.</a:t>
              </a:r>
            </a:p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Ambientes de Desenvolvimento </a:t>
              </a:r>
              <a:r>
                <a:rPr lang="en-US" sz="193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(IDEs): Visual Studio, VS Code, Rider.</a:t>
              </a:r>
            </a:p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Controle de Versão: </a:t>
              </a:r>
              <a:r>
                <a:rPr lang="en-US" sz="193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Git, GitHub, Perforce (essencial para trabalhar em equipe).</a:t>
              </a:r>
            </a:p>
            <a:p>
              <a:pPr algn="l">
                <a:lnSpc>
                  <a:spcPts val="271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49236" y="679133"/>
            <a:ext cx="5115902" cy="3670596"/>
            <a:chOff x="0" y="0"/>
            <a:chExt cx="6821203" cy="489412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821203" cy="4894128"/>
              <a:chOff x="0" y="0"/>
              <a:chExt cx="1339769" cy="96126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39769" cy="961268"/>
              </a:xfrm>
              <a:custGeom>
                <a:avLst/>
                <a:gdLst/>
                <a:ahLst/>
                <a:cxnLst/>
                <a:rect r="r" b="b" t="t" l="l"/>
                <a:pathLst>
                  <a:path h="961268" w="1339769">
                    <a:moveTo>
                      <a:pt x="77618" y="0"/>
                    </a:moveTo>
                    <a:lnTo>
                      <a:pt x="1262151" y="0"/>
                    </a:lnTo>
                    <a:cubicBezTo>
                      <a:pt x="1282737" y="0"/>
                      <a:pt x="1302479" y="8178"/>
                      <a:pt x="1317036" y="22734"/>
                    </a:cubicBezTo>
                    <a:cubicBezTo>
                      <a:pt x="1331592" y="37290"/>
                      <a:pt x="1339769" y="57032"/>
                      <a:pt x="1339769" y="77618"/>
                    </a:cubicBezTo>
                    <a:lnTo>
                      <a:pt x="1339769" y="883650"/>
                    </a:lnTo>
                    <a:cubicBezTo>
                      <a:pt x="1339769" y="904235"/>
                      <a:pt x="1331592" y="923978"/>
                      <a:pt x="1317036" y="938534"/>
                    </a:cubicBezTo>
                    <a:cubicBezTo>
                      <a:pt x="1302479" y="953090"/>
                      <a:pt x="1282737" y="961268"/>
                      <a:pt x="1262151" y="961268"/>
                    </a:cubicBezTo>
                    <a:lnTo>
                      <a:pt x="77618" y="961268"/>
                    </a:lnTo>
                    <a:cubicBezTo>
                      <a:pt x="57032" y="961268"/>
                      <a:pt x="37290" y="953090"/>
                      <a:pt x="22734" y="938534"/>
                    </a:cubicBezTo>
                    <a:cubicBezTo>
                      <a:pt x="8178" y="923978"/>
                      <a:pt x="0" y="904235"/>
                      <a:pt x="0" y="883650"/>
                    </a:cubicBezTo>
                    <a:lnTo>
                      <a:pt x="0" y="77618"/>
                    </a:lnTo>
                    <a:cubicBezTo>
                      <a:pt x="0" y="57032"/>
                      <a:pt x="8178" y="37290"/>
                      <a:pt x="22734" y="22734"/>
                    </a:cubicBezTo>
                    <a:cubicBezTo>
                      <a:pt x="37290" y="8178"/>
                      <a:pt x="57032" y="0"/>
                      <a:pt x="7761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39769" cy="9993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86338" y="281997"/>
              <a:ext cx="6276582" cy="1241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0841" indent="-195420" lvl="1">
                <a:lnSpc>
                  <a:spcPts val="2534"/>
                </a:lnSpc>
                <a:buFont typeface="Arial"/>
                <a:buChar char="•"/>
              </a:pPr>
              <a:r>
                <a:rPr lang="en-US" b="true" sz="181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SUA IMPORTÂNCIA NO DESENVOLVIMENTO DE UM JOGO?</a:t>
              </a:r>
            </a:p>
            <a:p>
              <a:pPr algn="l">
                <a:lnSpc>
                  <a:spcPts val="2534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9564" y="1223894"/>
              <a:ext cx="6093851" cy="3287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5"/>
                </a:lnSpc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Sem o programador, o jogo é apenas uma coleção de artes estáticas e ideias no papel. Ele é o responsável por fazer o jogo </a:t>
              </a:r>
              <a:r>
                <a:rPr lang="en-US" sz="2011" i="true">
                  <a:solidFill>
                    <a:srgbClr val="FFFFFF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existir</a:t>
              </a: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de fato, garantindo que os comandos do jogador funcionem e que o mundo digital reaja corretamente.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50988" y="4752241"/>
            <a:ext cx="5115902" cy="5494438"/>
            <a:chOff x="0" y="0"/>
            <a:chExt cx="6821203" cy="732591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821203" cy="6673276"/>
              <a:chOff x="0" y="0"/>
              <a:chExt cx="1339769" cy="131071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39769" cy="1310715"/>
              </a:xfrm>
              <a:custGeom>
                <a:avLst/>
                <a:gdLst/>
                <a:ahLst/>
                <a:cxnLst/>
                <a:rect r="r" b="b" t="t" l="l"/>
                <a:pathLst>
                  <a:path h="1310715" w="1339769">
                    <a:moveTo>
                      <a:pt x="77179" y="0"/>
                    </a:moveTo>
                    <a:lnTo>
                      <a:pt x="1262591" y="0"/>
                    </a:lnTo>
                    <a:cubicBezTo>
                      <a:pt x="1305215" y="0"/>
                      <a:pt x="1339769" y="34554"/>
                      <a:pt x="1339769" y="77179"/>
                    </a:cubicBezTo>
                    <a:lnTo>
                      <a:pt x="1339769" y="1233536"/>
                    </a:lnTo>
                    <a:cubicBezTo>
                      <a:pt x="1339769" y="1254005"/>
                      <a:pt x="1331638" y="1273636"/>
                      <a:pt x="1317164" y="1288109"/>
                    </a:cubicBezTo>
                    <a:cubicBezTo>
                      <a:pt x="1302691" y="1302583"/>
                      <a:pt x="1283060" y="1310715"/>
                      <a:pt x="1262591" y="1310715"/>
                    </a:cubicBezTo>
                    <a:lnTo>
                      <a:pt x="77179" y="1310715"/>
                    </a:lnTo>
                    <a:cubicBezTo>
                      <a:pt x="56710" y="1310715"/>
                      <a:pt x="37079" y="1302583"/>
                      <a:pt x="22605" y="1288109"/>
                    </a:cubicBezTo>
                    <a:cubicBezTo>
                      <a:pt x="8131" y="1273636"/>
                      <a:pt x="0" y="1254005"/>
                      <a:pt x="0" y="1233536"/>
                    </a:cubicBezTo>
                    <a:lnTo>
                      <a:pt x="0" y="77179"/>
                    </a:lnTo>
                    <a:cubicBezTo>
                      <a:pt x="0" y="34554"/>
                      <a:pt x="34554" y="0"/>
                      <a:pt x="771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339769" cy="1348815"/>
              </a:xfrm>
              <a:prstGeom prst="rect">
                <a:avLst/>
              </a:prstGeom>
            </p:spPr>
            <p:txBody>
              <a:bodyPr anchor="ctr" rtlCol="false" tIns="51089" lIns="51089" bIns="51089" rIns="51089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272311" y="239557"/>
              <a:ext cx="6276582" cy="1241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0841" indent="-195420" lvl="1">
                <a:lnSpc>
                  <a:spcPts val="2534"/>
                </a:lnSpc>
                <a:buFont typeface="Arial"/>
                <a:buChar char="•"/>
              </a:pPr>
              <a:r>
                <a:rPr lang="en-US" b="true" sz="181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EMPRESAS CONTRATAM ESSE PROFISSIONAL?</a:t>
              </a:r>
            </a:p>
            <a:p>
              <a:pPr algn="l">
                <a:lnSpc>
                  <a:spcPts val="2534"/>
                </a:lnSpc>
                <a:spcBef>
                  <a:spcPct val="0"/>
                </a:spcBef>
              </a:pP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63120" y="1202929"/>
              <a:ext cx="6494964" cy="6122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Grandes Estúdi</a:t>
              </a: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os (AAA): </a:t>
              </a: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Ubisoft, Rockstar Games, EA, Sony, Nintendo.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Estúd</a:t>
              </a: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ios Indie: </a:t>
              </a: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Devolver Digital, Team Cherry, InnerSloth.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Emp</a:t>
              </a: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resas de Tecnologia e Mobile: </a:t>
              </a: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King, Garena, Tencent, Supercell.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Epic Games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Valve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CD Projekt Red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Activision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Mojang Studios</a:t>
              </a:r>
            </a:p>
            <a:p>
              <a:pPr algn="l">
                <a:lnSpc>
                  <a:spcPts val="2815"/>
                </a:lnSpc>
              </a:pPr>
            </a:p>
            <a:p>
              <a:pPr algn="l">
                <a:lnSpc>
                  <a:spcPts val="281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" r="0" b="-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8779" y="2206745"/>
            <a:ext cx="5601083" cy="2936755"/>
          </a:xfrm>
          <a:custGeom>
            <a:avLst/>
            <a:gdLst/>
            <a:ahLst/>
            <a:cxnLst/>
            <a:rect r="r" b="b" t="t" l="l"/>
            <a:pathLst>
              <a:path h="2936755" w="5601083">
                <a:moveTo>
                  <a:pt x="0" y="0"/>
                </a:moveTo>
                <a:lnTo>
                  <a:pt x="5601084" y="0"/>
                </a:lnTo>
                <a:lnTo>
                  <a:pt x="5601084" y="2936755"/>
                </a:lnTo>
                <a:lnTo>
                  <a:pt x="0" y="2936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23" t="0" r="-77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8779" y="5847646"/>
            <a:ext cx="5110975" cy="3709579"/>
          </a:xfrm>
          <a:custGeom>
            <a:avLst/>
            <a:gdLst/>
            <a:ahLst/>
            <a:cxnLst/>
            <a:rect r="r" b="b" t="t" l="l"/>
            <a:pathLst>
              <a:path h="3709579" w="5110975">
                <a:moveTo>
                  <a:pt x="0" y="0"/>
                </a:moveTo>
                <a:lnTo>
                  <a:pt x="5110976" y="0"/>
                </a:lnTo>
                <a:lnTo>
                  <a:pt x="5110976" y="3709579"/>
                </a:lnTo>
                <a:lnTo>
                  <a:pt x="0" y="370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70503" y="2451175"/>
            <a:ext cx="4346993" cy="2091222"/>
            <a:chOff x="0" y="0"/>
            <a:chExt cx="5795991" cy="27882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5795991" cy="499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  <a:spcBef>
                  <a:spcPct val="0"/>
                </a:spcBef>
              </a:pP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</a:t>
              </a: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hn Carmack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35324"/>
              <a:ext cx="4998984" cy="225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163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Lendário</a:t>
              </a:r>
              <a:r>
                <a:rPr lang="en-US" b="true" sz="16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programador, cofundador da id Software. É considerado um gênio da matemática e computação gráfica, famoso por programar os motores revolucionários de jogos como Doom e Quake.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6777" y="3639281"/>
            <a:ext cx="6648744" cy="4416730"/>
            <a:chOff x="0" y="0"/>
            <a:chExt cx="8864992" cy="588897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864992" cy="5888974"/>
              <a:chOff x="0" y="0"/>
              <a:chExt cx="1751110" cy="116325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1110" cy="1163254"/>
              </a:xfrm>
              <a:custGeom>
                <a:avLst/>
                <a:gdLst/>
                <a:ahLst/>
                <a:cxnLst/>
                <a:rect r="r" b="b" t="t" l="l"/>
                <a:pathLst>
                  <a:path h="1163254" w="1751110">
                    <a:moveTo>
                      <a:pt x="83838" y="0"/>
                    </a:moveTo>
                    <a:lnTo>
                      <a:pt x="1667271" y="0"/>
                    </a:lnTo>
                    <a:cubicBezTo>
                      <a:pt x="1713574" y="0"/>
                      <a:pt x="1751110" y="37536"/>
                      <a:pt x="1751110" y="83838"/>
                    </a:cubicBezTo>
                    <a:lnTo>
                      <a:pt x="1751110" y="1079416"/>
                    </a:lnTo>
                    <a:cubicBezTo>
                      <a:pt x="1751110" y="1125718"/>
                      <a:pt x="1713574" y="1163254"/>
                      <a:pt x="1667271" y="1163254"/>
                    </a:cubicBezTo>
                    <a:lnTo>
                      <a:pt x="83838" y="1163254"/>
                    </a:lnTo>
                    <a:cubicBezTo>
                      <a:pt x="37536" y="1163254"/>
                      <a:pt x="0" y="1125718"/>
                      <a:pt x="0" y="1079416"/>
                    </a:cubicBezTo>
                    <a:lnTo>
                      <a:pt x="0" y="83838"/>
                    </a:lnTo>
                    <a:cubicBezTo>
                      <a:pt x="0" y="37536"/>
                      <a:pt x="37536" y="0"/>
                      <a:pt x="838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3533CD">
                      <a:alpha val="100000"/>
                    </a:srgbClr>
                  </a:gs>
                  <a:gs pos="100000">
                    <a:srgbClr val="08083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1110" cy="1201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762843" y="406535"/>
              <a:ext cx="3339306" cy="556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CURIOSIDADES: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68300" y="1155065"/>
              <a:ext cx="7927415" cy="4424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453384" indent="-226692" lvl="1">
                <a:lnSpc>
                  <a:spcPts val="293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FFDE5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</a:t>
              </a:r>
              <a:r>
                <a:rPr lang="en-US" b="true" sz="2099">
                  <a:solidFill>
                    <a:srgbClr val="FFDE5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ogr</a:t>
              </a:r>
              <a:r>
                <a:rPr lang="en-US" b="true" sz="2099">
                  <a:solidFill>
                    <a:srgbClr val="FFDE5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amadores de jogos podem se especializar em inteligência artificial, física, gráficos ou redes.</a:t>
              </a:r>
            </a:p>
            <a:p>
              <a:pPr algn="ctr" marL="453384" indent="-226692" lvl="1">
                <a:lnSpc>
                  <a:spcPts val="293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FFDE5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Alguns jogos possuem centenas de programadores trabalhando ao mesmo tempo.</a:t>
              </a:r>
            </a:p>
            <a:p>
              <a:pPr algn="ctr" marL="453384" indent="-226692" lvl="1">
                <a:lnSpc>
                  <a:spcPts val="293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FFDE5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programação é uma das áreas mais procuradas pela indústria de games.</a:t>
              </a:r>
            </a:p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085850"/>
            <a:ext cx="1356505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progamadores de jogos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29783" y="6249779"/>
            <a:ext cx="4346993" cy="2376211"/>
            <a:chOff x="0" y="0"/>
            <a:chExt cx="5795991" cy="316828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5795991" cy="499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  <a:spcBef>
                  <a:spcPct val="0"/>
                </a:spcBef>
              </a:pP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Markus "N</a:t>
              </a: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otch" Persson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35324"/>
              <a:ext cx="4998984" cy="2632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163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Programador </a:t>
              </a:r>
              <a:r>
                <a:rPr lang="en-US" b="true" sz="16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sueco que ganhou fama mundial ao criar o Minecraft, um dos jogos mais vendidos de todos os tempos. Em maio de 2009, Persson começou a programar o Minecraft sozinho, em seu pequeno apartamento em Estocolmo.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479" y="329565"/>
            <a:ext cx="1356505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game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6550" y="1486768"/>
            <a:ext cx="5208499" cy="3841547"/>
            <a:chOff x="0" y="0"/>
            <a:chExt cx="6944666" cy="512206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944666" cy="5122063"/>
              <a:chOff x="0" y="0"/>
              <a:chExt cx="1437858" cy="106049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37858" cy="1060497"/>
              </a:xfrm>
              <a:custGeom>
                <a:avLst/>
                <a:gdLst/>
                <a:ahLst/>
                <a:cxnLst/>
                <a:rect r="r" b="b" t="t" l="l"/>
                <a:pathLst>
                  <a:path h="1060497" w="1437858">
                    <a:moveTo>
                      <a:pt x="75806" y="0"/>
                    </a:moveTo>
                    <a:lnTo>
                      <a:pt x="1362051" y="0"/>
                    </a:lnTo>
                    <a:cubicBezTo>
                      <a:pt x="1382156" y="0"/>
                      <a:pt x="1401438" y="7987"/>
                      <a:pt x="1415654" y="22203"/>
                    </a:cubicBezTo>
                    <a:cubicBezTo>
                      <a:pt x="1429871" y="36420"/>
                      <a:pt x="1437858" y="55701"/>
                      <a:pt x="1437858" y="75806"/>
                    </a:cubicBezTo>
                    <a:lnTo>
                      <a:pt x="1437858" y="984691"/>
                    </a:lnTo>
                    <a:cubicBezTo>
                      <a:pt x="1437858" y="1004796"/>
                      <a:pt x="1429871" y="1024077"/>
                      <a:pt x="1415654" y="1038294"/>
                    </a:cubicBezTo>
                    <a:cubicBezTo>
                      <a:pt x="1401438" y="1052510"/>
                      <a:pt x="1382156" y="1060497"/>
                      <a:pt x="1362051" y="1060497"/>
                    </a:cubicBezTo>
                    <a:lnTo>
                      <a:pt x="75806" y="1060497"/>
                    </a:lnTo>
                    <a:cubicBezTo>
                      <a:pt x="55701" y="1060497"/>
                      <a:pt x="36420" y="1052510"/>
                      <a:pt x="22203" y="1038294"/>
                    </a:cubicBezTo>
                    <a:cubicBezTo>
                      <a:pt x="7987" y="1024077"/>
                      <a:pt x="0" y="1004796"/>
                      <a:pt x="0" y="984691"/>
                    </a:cubicBezTo>
                    <a:lnTo>
                      <a:pt x="0" y="75806"/>
                    </a:lnTo>
                    <a:cubicBezTo>
                      <a:pt x="0" y="55701"/>
                      <a:pt x="7987" y="36420"/>
                      <a:pt x="22203" y="22203"/>
                    </a:cubicBezTo>
                    <a:cubicBezTo>
                      <a:pt x="36420" y="7987"/>
                      <a:pt x="55701" y="0"/>
                      <a:pt x="7580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437858" cy="1098597"/>
              </a:xfrm>
              <a:prstGeom prst="rect">
                <a:avLst/>
              </a:prstGeom>
            </p:spPr>
            <p:txBody>
              <a:bodyPr anchor="ctr" rtlCol="false" tIns="48466" lIns="48466" bIns="48466" rIns="4846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0592" y="200239"/>
              <a:ext cx="6392600" cy="779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0770" indent="-185385" lvl="1">
                <a:lnSpc>
                  <a:spcPts val="2404"/>
                </a:lnSpc>
                <a:buFont typeface="Arial"/>
                <a:buChar char="•"/>
              </a:pPr>
              <a:r>
                <a:rPr lang="en-US" b="true" sz="1717" spc="51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QUAL A FUNÇÃO DO PROFISSIONAL?</a:t>
              </a:r>
            </a:p>
            <a:p>
              <a:pPr algn="l">
                <a:lnSpc>
                  <a:spcPts val="2404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43656" y="698001"/>
              <a:ext cx="6257354" cy="400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 Game Designer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é o arquiteto do jogo. A sua principal função é planejar e definir a experiência do jogador, estruturando as mecânicas, regras, níveis de dificuldade, narrativa e objetivos. Ele não é o programador ou o desenhista (artista) em si, mas quem orienta essas equipes para garantir que a ideia saia do papel de forma coesa e divertida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6550" y="5563965"/>
            <a:ext cx="5008886" cy="3896634"/>
            <a:chOff x="0" y="0"/>
            <a:chExt cx="6678515" cy="519551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78515" cy="4972634"/>
              <a:chOff x="0" y="0"/>
              <a:chExt cx="1382752" cy="102955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82752" cy="1029559"/>
              </a:xfrm>
              <a:custGeom>
                <a:avLst/>
                <a:gdLst/>
                <a:ahLst/>
                <a:cxnLst/>
                <a:rect r="r" b="b" t="t" l="l"/>
                <a:pathLst>
                  <a:path h="1029559" w="1382752">
                    <a:moveTo>
                      <a:pt x="78827" y="0"/>
                    </a:moveTo>
                    <a:lnTo>
                      <a:pt x="1303925" y="0"/>
                    </a:lnTo>
                    <a:cubicBezTo>
                      <a:pt x="1347460" y="0"/>
                      <a:pt x="1382752" y="35292"/>
                      <a:pt x="1382752" y="78827"/>
                    </a:cubicBezTo>
                    <a:lnTo>
                      <a:pt x="1382752" y="950731"/>
                    </a:lnTo>
                    <a:cubicBezTo>
                      <a:pt x="1382752" y="994266"/>
                      <a:pt x="1347460" y="1029559"/>
                      <a:pt x="1303925" y="1029559"/>
                    </a:cubicBezTo>
                    <a:lnTo>
                      <a:pt x="78827" y="1029559"/>
                    </a:lnTo>
                    <a:cubicBezTo>
                      <a:pt x="35292" y="1029559"/>
                      <a:pt x="0" y="994266"/>
                      <a:pt x="0" y="950731"/>
                    </a:cubicBezTo>
                    <a:lnTo>
                      <a:pt x="0" y="78827"/>
                    </a:lnTo>
                    <a:cubicBezTo>
                      <a:pt x="0" y="35292"/>
                      <a:pt x="35292" y="0"/>
                      <a:pt x="7882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382752" cy="1067659"/>
              </a:xfrm>
              <a:prstGeom prst="rect">
                <a:avLst/>
              </a:prstGeom>
            </p:spPr>
            <p:txBody>
              <a:bodyPr anchor="ctr" rtlCol="false" tIns="48466" lIns="48466" bIns="48466" rIns="4846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0592" y="236588"/>
              <a:ext cx="6392600" cy="779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0770" indent="-185385" lvl="1">
                <a:lnSpc>
                  <a:spcPts val="2404"/>
                </a:lnSpc>
                <a:buFont typeface="Arial"/>
                <a:buChar char="•"/>
              </a:pPr>
              <a:r>
                <a:rPr lang="en-US" b="true" sz="1717" spc="51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QUAIS ATIVIDADES ELE EXECUTA?</a:t>
              </a:r>
            </a:p>
            <a:p>
              <a:pPr algn="l">
                <a:lnSpc>
                  <a:spcPts val="2404"/>
                </a:lnSpc>
                <a:spcBef>
                  <a:spcPct val="0"/>
                </a:spcBef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0580" y="738960"/>
              <a:ext cx="6257354" cy="4456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Criar a história e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o universo do jogo;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efinir as mecânicas e regras;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Planejar fases e missões;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laborar documentos de design (Game Design Document – GDD);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Tes</a:t>
              </a: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tar e ajustar a jogabilidade;</a:t>
              </a:r>
            </a:p>
            <a:p>
              <a:pPr algn="l" marL="411965" indent="-205982" lvl="1">
                <a:lnSpc>
                  <a:spcPts val="2671"/>
                </a:lnSpc>
                <a:buFont typeface="Arial"/>
                <a:buChar char="•"/>
              </a:pPr>
              <a:r>
                <a:rPr lang="en-US" sz="19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Trabalhar em conjunto com programadores, artistas e animadores.</a:t>
              </a:r>
            </a:p>
            <a:p>
              <a:pPr algn="l">
                <a:lnSpc>
                  <a:spcPts val="267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7317" y="1486768"/>
            <a:ext cx="5115902" cy="3717433"/>
            <a:chOff x="0" y="0"/>
            <a:chExt cx="6821203" cy="495657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821203" cy="4880377"/>
              <a:chOff x="0" y="0"/>
              <a:chExt cx="1382752" cy="98932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82752" cy="989320"/>
              </a:xfrm>
              <a:custGeom>
                <a:avLst/>
                <a:gdLst/>
                <a:ahLst/>
                <a:cxnLst/>
                <a:rect r="r" b="b" t="t" l="l"/>
                <a:pathLst>
                  <a:path h="989320" w="1382752">
                    <a:moveTo>
                      <a:pt x="77179" y="0"/>
                    </a:moveTo>
                    <a:lnTo>
                      <a:pt x="1305574" y="0"/>
                    </a:lnTo>
                    <a:cubicBezTo>
                      <a:pt x="1348198" y="0"/>
                      <a:pt x="1382752" y="34554"/>
                      <a:pt x="1382752" y="77179"/>
                    </a:cubicBezTo>
                    <a:lnTo>
                      <a:pt x="1382752" y="912142"/>
                    </a:lnTo>
                    <a:cubicBezTo>
                      <a:pt x="1382752" y="932611"/>
                      <a:pt x="1374621" y="952241"/>
                      <a:pt x="1360147" y="966715"/>
                    </a:cubicBezTo>
                    <a:cubicBezTo>
                      <a:pt x="1345674" y="981189"/>
                      <a:pt x="1326043" y="989320"/>
                      <a:pt x="1305574" y="989320"/>
                    </a:cubicBezTo>
                    <a:lnTo>
                      <a:pt x="77179" y="989320"/>
                    </a:lnTo>
                    <a:cubicBezTo>
                      <a:pt x="34554" y="989320"/>
                      <a:pt x="0" y="954766"/>
                      <a:pt x="0" y="912142"/>
                    </a:cubicBezTo>
                    <a:lnTo>
                      <a:pt x="0" y="77179"/>
                    </a:lnTo>
                    <a:cubicBezTo>
                      <a:pt x="0" y="34554"/>
                      <a:pt x="34554" y="0"/>
                      <a:pt x="771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382752" cy="1027420"/>
              </a:xfrm>
              <a:prstGeom prst="rect">
                <a:avLst/>
              </a:prstGeom>
            </p:spPr>
            <p:txBody>
              <a:bodyPr anchor="ctr" rtlCol="false" tIns="49501" lIns="49501" bIns="49501" rIns="49501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02742" y="369457"/>
              <a:ext cx="6529180" cy="1203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8692" indent="-189346" lvl="1">
                <a:lnSpc>
                  <a:spcPts val="2455"/>
                </a:lnSpc>
                <a:buFont typeface="Arial"/>
                <a:buChar char="•"/>
              </a:pPr>
              <a:r>
                <a:rPr lang="en-US" b="true" sz="1754" spc="52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CONHECIMENTOS TÉCNICOS SÃO NECESSÁRIOS?</a:t>
              </a:r>
            </a:p>
            <a:p>
              <a:pPr algn="l">
                <a:lnSpc>
                  <a:spcPts val="2455"/>
                </a:lnSpc>
                <a:spcBef>
                  <a:spcPct val="0"/>
                </a:spcBef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1809" y="1311870"/>
              <a:ext cx="6391044" cy="3644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Design de jog</a:t>
              </a: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os;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Narrativa e criação de histórias;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Psicologia do jogador;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Balanceamento de mecânicas;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Noçõe</a:t>
              </a: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</a:t>
              </a: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de programação;</a:t>
              </a:r>
            </a:p>
            <a:p>
              <a:pPr algn="l" marL="420767" indent="-210383" lvl="1">
                <a:lnSpc>
                  <a:spcPts val="2728"/>
                </a:lnSpc>
                <a:buFont typeface="Arial"/>
                <a:buChar char="•"/>
              </a:pPr>
              <a:r>
                <a:rPr lang="en-US" b="true" sz="194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Conhecimento de motores gráficos.</a:t>
              </a:r>
            </a:p>
            <a:p>
              <a:pPr algn="l">
                <a:lnSpc>
                  <a:spcPts val="272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86049" y="5820550"/>
            <a:ext cx="5115902" cy="3383464"/>
            <a:chOff x="0" y="0"/>
            <a:chExt cx="6821203" cy="451128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115389" cy="4435085"/>
              <a:chOff x="0" y="0"/>
              <a:chExt cx="1247067" cy="90441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47067" cy="904415"/>
              </a:xfrm>
              <a:custGeom>
                <a:avLst/>
                <a:gdLst/>
                <a:ahLst/>
                <a:cxnLst/>
                <a:rect r="r" b="b" t="t" l="l"/>
                <a:pathLst>
                  <a:path h="904415" w="1247067">
                    <a:moveTo>
                      <a:pt x="86086" y="0"/>
                    </a:moveTo>
                    <a:lnTo>
                      <a:pt x="1160981" y="0"/>
                    </a:lnTo>
                    <a:cubicBezTo>
                      <a:pt x="1183812" y="0"/>
                      <a:pt x="1205708" y="9070"/>
                      <a:pt x="1221853" y="25214"/>
                    </a:cubicBezTo>
                    <a:cubicBezTo>
                      <a:pt x="1237997" y="41358"/>
                      <a:pt x="1247067" y="63255"/>
                      <a:pt x="1247067" y="86086"/>
                    </a:cubicBezTo>
                    <a:lnTo>
                      <a:pt x="1247067" y="818329"/>
                    </a:lnTo>
                    <a:cubicBezTo>
                      <a:pt x="1247067" y="865873"/>
                      <a:pt x="1208525" y="904415"/>
                      <a:pt x="1160981" y="904415"/>
                    </a:cubicBezTo>
                    <a:lnTo>
                      <a:pt x="86086" y="904415"/>
                    </a:lnTo>
                    <a:cubicBezTo>
                      <a:pt x="38542" y="904415"/>
                      <a:pt x="0" y="865873"/>
                      <a:pt x="0" y="818329"/>
                    </a:cubicBezTo>
                    <a:lnTo>
                      <a:pt x="0" y="86086"/>
                    </a:lnTo>
                    <a:cubicBezTo>
                      <a:pt x="0" y="38542"/>
                      <a:pt x="38542" y="0"/>
                      <a:pt x="8608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247067" cy="942515"/>
              </a:xfrm>
              <a:prstGeom prst="rect">
                <a:avLst/>
              </a:prstGeom>
            </p:spPr>
            <p:txBody>
              <a:bodyPr anchor="ctr" rtlCol="false" tIns="49208" lIns="49208" bIns="49208" rIns="49208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79475" y="359108"/>
              <a:ext cx="6421816" cy="1196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6447" indent="-188223" lvl="1">
                <a:lnSpc>
                  <a:spcPts val="2441"/>
                </a:lnSpc>
                <a:buFont typeface="Arial"/>
                <a:buChar char="•"/>
              </a:pPr>
              <a:r>
                <a:rPr lang="en-US" b="true" sz="1743" spc="52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FERRAMENTAS O PROFISSIONAL UTILIZA</a:t>
              </a:r>
            </a:p>
            <a:p>
              <a:pPr algn="l">
                <a:lnSpc>
                  <a:spcPts val="2441"/>
                </a:lnSpc>
                <a:spcBef>
                  <a:spcPct val="0"/>
                </a:spcBef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11228" y="1343073"/>
              <a:ext cx="6609975" cy="3168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Unity</a:t>
              </a:r>
            </a:p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Unreal Engine</a:t>
              </a:r>
            </a:p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Miro</a:t>
              </a:r>
            </a:p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Documentos GDD;</a:t>
              </a:r>
            </a:p>
            <a:p>
              <a:pPr algn="l" marL="418272" indent="-209136" lvl="1">
                <a:lnSpc>
                  <a:spcPts val="2712"/>
                </a:lnSpc>
                <a:buFont typeface="Arial"/>
                <a:buChar char="•"/>
              </a:pPr>
              <a:r>
                <a:rPr lang="en-US" b="true" sz="193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Planilhas e ferramentas de prototipagem.</a:t>
              </a:r>
            </a:p>
            <a:p>
              <a:pPr algn="l">
                <a:lnSpc>
                  <a:spcPts val="271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04244" y="1766345"/>
            <a:ext cx="5310064" cy="4054204"/>
            <a:chOff x="0" y="0"/>
            <a:chExt cx="7080086" cy="540560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080086" cy="5405606"/>
              <a:chOff x="0" y="0"/>
              <a:chExt cx="1390617" cy="106172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90617" cy="1061728"/>
              </a:xfrm>
              <a:custGeom>
                <a:avLst/>
                <a:gdLst/>
                <a:ahLst/>
                <a:cxnLst/>
                <a:rect r="r" b="b" t="t" l="l"/>
                <a:pathLst>
                  <a:path h="1061728" w="1390617">
                    <a:moveTo>
                      <a:pt x="74357" y="0"/>
                    </a:moveTo>
                    <a:lnTo>
                      <a:pt x="1316261" y="0"/>
                    </a:lnTo>
                    <a:cubicBezTo>
                      <a:pt x="1335981" y="0"/>
                      <a:pt x="1354894" y="7834"/>
                      <a:pt x="1368839" y="21779"/>
                    </a:cubicBezTo>
                    <a:cubicBezTo>
                      <a:pt x="1382783" y="35723"/>
                      <a:pt x="1390617" y="54636"/>
                      <a:pt x="1390617" y="74357"/>
                    </a:cubicBezTo>
                    <a:lnTo>
                      <a:pt x="1390617" y="987372"/>
                    </a:lnTo>
                    <a:cubicBezTo>
                      <a:pt x="1390617" y="1007093"/>
                      <a:pt x="1382783" y="1026005"/>
                      <a:pt x="1368839" y="1039950"/>
                    </a:cubicBezTo>
                    <a:cubicBezTo>
                      <a:pt x="1354894" y="1053894"/>
                      <a:pt x="1335981" y="1061728"/>
                      <a:pt x="1316261" y="1061728"/>
                    </a:cubicBezTo>
                    <a:lnTo>
                      <a:pt x="74357" y="1061728"/>
                    </a:lnTo>
                    <a:cubicBezTo>
                      <a:pt x="54636" y="1061728"/>
                      <a:pt x="35723" y="1053894"/>
                      <a:pt x="21779" y="1039950"/>
                    </a:cubicBezTo>
                    <a:cubicBezTo>
                      <a:pt x="7834" y="1026005"/>
                      <a:pt x="0" y="1007093"/>
                      <a:pt x="0" y="987372"/>
                    </a:cubicBezTo>
                    <a:lnTo>
                      <a:pt x="0" y="74357"/>
                    </a:lnTo>
                    <a:cubicBezTo>
                      <a:pt x="0" y="54636"/>
                      <a:pt x="7834" y="35723"/>
                      <a:pt x="21779" y="21779"/>
                    </a:cubicBezTo>
                    <a:cubicBezTo>
                      <a:pt x="35723" y="7834"/>
                      <a:pt x="54636" y="0"/>
                      <a:pt x="7435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90617" cy="1099828"/>
              </a:xfrm>
              <a:prstGeom prst="rect">
                <a:avLst/>
              </a:prstGeom>
            </p:spPr>
            <p:txBody>
              <a:bodyPr anchor="ctr" rtlCol="false" tIns="51089" lIns="51089" bIns="51089" rIns="51089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86338" y="281997"/>
              <a:ext cx="6276582" cy="1241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0841" indent="-195420" lvl="1">
                <a:lnSpc>
                  <a:spcPts val="2534"/>
                </a:lnSpc>
                <a:buFont typeface="Arial"/>
                <a:buChar char="•"/>
              </a:pPr>
              <a:r>
                <a:rPr lang="en-US" b="true" sz="181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QUAL SUA IMPORTÂNCIA NO DESENVOLVIMENTO DE UM JOGO?</a:t>
              </a:r>
            </a:p>
            <a:p>
              <a:pPr algn="l">
                <a:lnSpc>
                  <a:spcPts val="2534"/>
                </a:lnSpc>
                <a:spcBef>
                  <a:spcPct val="0"/>
                </a:spcBef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9564" y="1223894"/>
              <a:ext cx="6093851" cy="376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5"/>
                </a:lnSpc>
              </a:pP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Ele é essencial porque transforma ideias abstratas em um jogo concreto, definindo as regras, a mecânica, o fluxo de desafios e a narrativa. Sem ele, a equipe (programador</a:t>
              </a: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</a:t>
              </a:r>
              <a:r>
                <a:rPr lang="en-US" sz="201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e artistas) não teria uma direção coesa, resultando em um jogo sem propósito ou diversão.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49236" y="6012548"/>
            <a:ext cx="5115902" cy="3108433"/>
            <a:chOff x="0" y="0"/>
            <a:chExt cx="6821203" cy="4144578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821203" cy="4093778"/>
              <a:chOff x="0" y="0"/>
              <a:chExt cx="1339769" cy="80406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39769" cy="804069"/>
              </a:xfrm>
              <a:custGeom>
                <a:avLst/>
                <a:gdLst/>
                <a:ahLst/>
                <a:cxnLst/>
                <a:rect r="r" b="b" t="t" l="l"/>
                <a:pathLst>
                  <a:path h="804069" w="1339769">
                    <a:moveTo>
                      <a:pt x="77179" y="0"/>
                    </a:moveTo>
                    <a:lnTo>
                      <a:pt x="1262591" y="0"/>
                    </a:lnTo>
                    <a:cubicBezTo>
                      <a:pt x="1305215" y="0"/>
                      <a:pt x="1339769" y="34554"/>
                      <a:pt x="1339769" y="77179"/>
                    </a:cubicBezTo>
                    <a:lnTo>
                      <a:pt x="1339769" y="726891"/>
                    </a:lnTo>
                    <a:cubicBezTo>
                      <a:pt x="1339769" y="747360"/>
                      <a:pt x="1331638" y="766990"/>
                      <a:pt x="1317164" y="781464"/>
                    </a:cubicBezTo>
                    <a:cubicBezTo>
                      <a:pt x="1302691" y="795938"/>
                      <a:pt x="1283060" y="804069"/>
                      <a:pt x="1262591" y="804069"/>
                    </a:cubicBezTo>
                    <a:lnTo>
                      <a:pt x="77179" y="804069"/>
                    </a:lnTo>
                    <a:cubicBezTo>
                      <a:pt x="34554" y="804069"/>
                      <a:pt x="0" y="769515"/>
                      <a:pt x="0" y="726891"/>
                    </a:cubicBezTo>
                    <a:lnTo>
                      <a:pt x="0" y="77179"/>
                    </a:lnTo>
                    <a:cubicBezTo>
                      <a:pt x="0" y="34554"/>
                      <a:pt x="34554" y="0"/>
                      <a:pt x="771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339769" cy="842169"/>
              </a:xfrm>
              <a:prstGeom prst="rect">
                <a:avLst/>
              </a:prstGeom>
            </p:spPr>
            <p:txBody>
              <a:bodyPr anchor="ctr" rtlCol="false" tIns="51089" lIns="51089" bIns="51089" rIns="51089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86338" y="370897"/>
              <a:ext cx="6276582" cy="1241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0841" indent="-195420" lvl="1">
                <a:lnSpc>
                  <a:spcPts val="2534"/>
                </a:lnSpc>
                <a:buFont typeface="Arial"/>
                <a:buChar char="•"/>
              </a:pPr>
              <a:r>
                <a:rPr lang="en-US" b="true" sz="1810" spc="54">
                  <a:solidFill>
                    <a:srgbClr val="027BF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QUAIS EMPRESAS CONTRATAM ESSE PROFISSIONAL?</a:t>
              </a:r>
            </a:p>
            <a:p>
              <a:pPr algn="l">
                <a:lnSpc>
                  <a:spcPts val="2534"/>
                </a:lnSpc>
                <a:spcBef>
                  <a:spcPct val="0"/>
                </a:spcBef>
              </a:pP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26239" y="1329619"/>
              <a:ext cx="6494964" cy="2814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Ubisoft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Electronic Arts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Rockstar Games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Nintendo</a:t>
              </a:r>
            </a:p>
            <a:p>
              <a:pPr algn="l" marL="434266" indent="-217133" lvl="1">
                <a:lnSpc>
                  <a:spcPts val="2815"/>
                </a:lnSpc>
                <a:buFont typeface="Arial"/>
                <a:buChar char="•"/>
              </a:pP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</a:t>
              </a:r>
              <a:r>
                <a:rPr lang="en-US" b="true" sz="201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iot Games</a:t>
              </a:r>
            </a:p>
            <a:p>
              <a:pPr algn="l">
                <a:lnSpc>
                  <a:spcPts val="2815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" r="0" b="-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17689"/>
            <a:ext cx="5322402" cy="2835863"/>
          </a:xfrm>
          <a:custGeom>
            <a:avLst/>
            <a:gdLst/>
            <a:ahLst/>
            <a:cxnLst/>
            <a:rect r="r" b="b" t="t" l="l"/>
            <a:pathLst>
              <a:path h="2835863" w="5322402">
                <a:moveTo>
                  <a:pt x="0" y="0"/>
                </a:moveTo>
                <a:lnTo>
                  <a:pt x="5322402" y="0"/>
                </a:lnTo>
                <a:lnTo>
                  <a:pt x="5322402" y="2835863"/>
                </a:lnTo>
                <a:lnTo>
                  <a:pt x="0" y="2835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81" t="0" r="-328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655969"/>
            <a:ext cx="5322402" cy="2993851"/>
          </a:xfrm>
          <a:custGeom>
            <a:avLst/>
            <a:gdLst/>
            <a:ahLst/>
            <a:cxnLst/>
            <a:rect r="r" b="b" t="t" l="l"/>
            <a:pathLst>
              <a:path h="2993851" w="5322402">
                <a:moveTo>
                  <a:pt x="0" y="0"/>
                </a:moveTo>
                <a:lnTo>
                  <a:pt x="5322402" y="0"/>
                </a:lnTo>
                <a:lnTo>
                  <a:pt x="5322402" y="2993852"/>
                </a:lnTo>
                <a:lnTo>
                  <a:pt x="0" y="2993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976777" y="3639281"/>
            <a:ext cx="6648744" cy="4416730"/>
            <a:chOff x="0" y="0"/>
            <a:chExt cx="1751110" cy="11632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1110" cy="1163254"/>
            </a:xfrm>
            <a:custGeom>
              <a:avLst/>
              <a:gdLst/>
              <a:ahLst/>
              <a:cxnLst/>
              <a:rect r="r" b="b" t="t" l="l"/>
              <a:pathLst>
                <a:path h="1163254" w="1751110">
                  <a:moveTo>
                    <a:pt x="83838" y="0"/>
                  </a:moveTo>
                  <a:lnTo>
                    <a:pt x="1667271" y="0"/>
                  </a:lnTo>
                  <a:cubicBezTo>
                    <a:pt x="1713574" y="0"/>
                    <a:pt x="1751110" y="37536"/>
                    <a:pt x="1751110" y="83838"/>
                  </a:cubicBezTo>
                  <a:lnTo>
                    <a:pt x="1751110" y="1079416"/>
                  </a:lnTo>
                  <a:cubicBezTo>
                    <a:pt x="1751110" y="1125718"/>
                    <a:pt x="1713574" y="1163254"/>
                    <a:pt x="1667271" y="1163254"/>
                  </a:cubicBezTo>
                  <a:lnTo>
                    <a:pt x="83838" y="1163254"/>
                  </a:lnTo>
                  <a:cubicBezTo>
                    <a:pt x="37536" y="1163254"/>
                    <a:pt x="0" y="1125718"/>
                    <a:pt x="0" y="1079416"/>
                  </a:cubicBezTo>
                  <a:lnTo>
                    <a:pt x="0" y="83838"/>
                  </a:lnTo>
                  <a:cubicBezTo>
                    <a:pt x="0" y="37536"/>
                    <a:pt x="37536" y="0"/>
                    <a:pt x="838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533CD">
                    <a:alpha val="100000"/>
                  </a:srgbClr>
                </a:gs>
                <a:gs pos="100000">
                  <a:srgbClr val="08083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1110" cy="1201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29783" y="2292350"/>
            <a:ext cx="4346993" cy="2661201"/>
            <a:chOff x="0" y="0"/>
            <a:chExt cx="5795991" cy="354826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795991" cy="499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  <a:spcBef>
                  <a:spcPct val="0"/>
                </a:spcBef>
              </a:pP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Shigeru Miyamoto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35324"/>
              <a:ext cx="4998984" cy="3012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163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É um designer e produtor de jogo</a:t>
              </a:r>
              <a:r>
                <a:rPr lang="en-US" b="true" sz="16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 japonês, amplamente reconhecido como o criador de Super Mario, The Legend of Zelda, Donkey Kong, Star Fox e Pikmin. Considerado o “pai dos videogames modernos”, é uma das figuras mais influentes da indústria e da cultura pop mundial.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85850"/>
            <a:ext cx="1356505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GAME DESIGNers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29783" y="6249779"/>
            <a:ext cx="4346993" cy="1806232"/>
            <a:chOff x="0" y="0"/>
            <a:chExt cx="5795991" cy="240831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5795991" cy="499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  <a:spcBef>
                  <a:spcPct val="0"/>
                </a:spcBef>
              </a:pP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</a:t>
              </a:r>
              <a:r>
                <a:rPr lang="en-US" b="true" sz="2176" spc="65">
                  <a:solidFill>
                    <a:srgbClr val="FF8A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ideo Kojima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35324"/>
              <a:ext cx="4998984" cy="187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163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É o criador da </a:t>
              </a:r>
              <a:r>
                <a:rPr lang="en-US" b="true" sz="163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série Metal Gear e fundador do estúdio independente Kojima Productions, responsável por Death Stranding e outros projetos de vanguarda.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048909" y="3929895"/>
            <a:ext cx="2504480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CURIOSIDADES: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53002" y="4496054"/>
            <a:ext cx="5945561" cy="332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84" indent="-226692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Muito</a:t>
            </a:r>
            <a:r>
              <a:rPr lang="en-US" b="true" sz="2099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Game Designers começaram como jogadores apaixonados.</a:t>
            </a:r>
          </a:p>
          <a:p>
            <a:pPr algn="ctr" marL="453384" indent="-226692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Alguns profissionais trabalham com jogos de tabuleiro antes de migrar para jogos digitais.</a:t>
            </a:r>
          </a:p>
          <a:p>
            <a:pPr algn="ctr" marL="453384" indent="-226692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Game Designer não precisa saber programar profundamente, mas entender programação ajuda bastante.</a:t>
            </a:r>
          </a:p>
          <a:p>
            <a:pPr algn="ctr">
              <a:lnSpc>
                <a:spcPts val="29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0" r="-1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-6995105" y="-2727047"/>
            <a:ext cx="15574299" cy="10382866"/>
          </a:xfrm>
          <a:custGeom>
            <a:avLst/>
            <a:gdLst/>
            <a:ahLst/>
            <a:cxnLst/>
            <a:rect r="r" b="b" t="t" l="l"/>
            <a:pathLst>
              <a:path h="10382866" w="15574299">
                <a:moveTo>
                  <a:pt x="0" y="0"/>
                </a:moveTo>
                <a:lnTo>
                  <a:pt x="15574299" y="0"/>
                </a:lnTo>
                <a:lnTo>
                  <a:pt x="15574299" y="10382866"/>
                </a:lnTo>
                <a:lnTo>
                  <a:pt x="0" y="10382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7224" y="558119"/>
            <a:ext cx="642076" cy="642076"/>
          </a:xfrm>
          <a:custGeom>
            <a:avLst/>
            <a:gdLst/>
            <a:ahLst/>
            <a:cxnLst/>
            <a:rect r="r" b="b" t="t" l="l"/>
            <a:pathLst>
              <a:path h="642076" w="642076">
                <a:moveTo>
                  <a:pt x="0" y="0"/>
                </a:moveTo>
                <a:lnTo>
                  <a:pt x="642076" y="0"/>
                </a:lnTo>
                <a:lnTo>
                  <a:pt x="642076" y="642077"/>
                </a:lnTo>
                <a:lnTo>
                  <a:pt x="0" y="642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7262277" y="3754508"/>
            <a:ext cx="15574299" cy="10382866"/>
          </a:xfrm>
          <a:custGeom>
            <a:avLst/>
            <a:gdLst/>
            <a:ahLst/>
            <a:cxnLst/>
            <a:rect r="r" b="b" t="t" l="l"/>
            <a:pathLst>
              <a:path h="10382866" w="15574299">
                <a:moveTo>
                  <a:pt x="0" y="0"/>
                </a:moveTo>
                <a:lnTo>
                  <a:pt x="15574299" y="0"/>
                </a:lnTo>
                <a:lnTo>
                  <a:pt x="15574299" y="10382866"/>
                </a:lnTo>
                <a:lnTo>
                  <a:pt x="0" y="10382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79957" y="2655949"/>
            <a:ext cx="9992359" cy="409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0"/>
              </a:lnSpc>
            </a:pPr>
            <a:r>
              <a:rPr lang="en-US" sz="137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14988" y="6918278"/>
            <a:ext cx="10922297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 spc="1380">
                <a:solidFill>
                  <a:srgbClr val="FFFFFF"/>
                </a:solidFill>
                <a:latin typeface="Neo Sans"/>
                <a:ea typeface="Neo Sans"/>
                <a:cs typeface="Neo Sans"/>
                <a:sym typeface="Neo Sans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DAHNQIujM8s</dc:identifier>
  <dcterms:modified xsi:type="dcterms:W3CDTF">2011-08-01T06:04:30Z</dcterms:modified>
  <cp:revision>1</cp:revision>
  <dc:title>KAROL | INTRODUÇÃO AOS JOGOS DIGITAIS</dc:title>
</cp:coreProperties>
</file>